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8" r:id="rId9"/>
    <p:sldId id="259" r:id="rId10"/>
    <p:sldId id="260" r:id="rId11"/>
    <p:sldId id="262" r:id="rId13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6" r:id="rId227"/>
    <p:sldId id="477" r:id="rId2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3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0" Type="http://schemas.openxmlformats.org/officeDocument/2006/relationships/slide" Target="slides/slide21.xml"/><Relationship Id="rId31" Type="http://schemas.openxmlformats.org/officeDocument/2006/relationships/slide" Target="slides/slide22.xml"/><Relationship Id="rId32" Type="http://schemas.openxmlformats.org/officeDocument/2006/relationships/slide" Target="slides/slide23.xml"/><Relationship Id="rId33" Type="http://schemas.openxmlformats.org/officeDocument/2006/relationships/slide" Target="slides/slide24.xml"/><Relationship Id="rId34" Type="http://schemas.openxmlformats.org/officeDocument/2006/relationships/slide" Target="slides/slide25.xml"/><Relationship Id="rId35" Type="http://schemas.openxmlformats.org/officeDocument/2006/relationships/slide" Target="slides/slide26.xml"/><Relationship Id="rId36" Type="http://schemas.openxmlformats.org/officeDocument/2006/relationships/slide" Target="slides/slide27.xml"/><Relationship Id="rId37" Type="http://schemas.openxmlformats.org/officeDocument/2006/relationships/slide" Target="slides/slide28.xml"/><Relationship Id="rId38" Type="http://schemas.openxmlformats.org/officeDocument/2006/relationships/slide" Target="slides/slide29.xml"/><Relationship Id="rId39" Type="http://schemas.openxmlformats.org/officeDocument/2006/relationships/slide" Target="slides/slide30.xml"/><Relationship Id="rId40" Type="http://schemas.openxmlformats.org/officeDocument/2006/relationships/slide" Target="slides/slide31.xml"/><Relationship Id="rId41" Type="http://schemas.openxmlformats.org/officeDocument/2006/relationships/slide" Target="slides/slide32.xml"/><Relationship Id="rId42" Type="http://schemas.openxmlformats.org/officeDocument/2006/relationships/slide" Target="slides/slide33.xml"/><Relationship Id="rId43" Type="http://schemas.openxmlformats.org/officeDocument/2006/relationships/slide" Target="slides/slide34.xml"/><Relationship Id="rId44" Type="http://schemas.openxmlformats.org/officeDocument/2006/relationships/slide" Target="slides/slide35.xml"/><Relationship Id="rId45" Type="http://schemas.openxmlformats.org/officeDocument/2006/relationships/slide" Target="slides/slide36.xml"/><Relationship Id="rId46" Type="http://schemas.openxmlformats.org/officeDocument/2006/relationships/slide" Target="slides/slide37.xml"/><Relationship Id="rId47" Type="http://schemas.openxmlformats.org/officeDocument/2006/relationships/slide" Target="slides/slide38.xml"/><Relationship Id="rId48" Type="http://schemas.openxmlformats.org/officeDocument/2006/relationships/slide" Target="slides/slide39.xml"/><Relationship Id="rId49" Type="http://schemas.openxmlformats.org/officeDocument/2006/relationships/slide" Target="slides/slide40.xml"/><Relationship Id="rId50" Type="http://schemas.openxmlformats.org/officeDocument/2006/relationships/slide" Target="slides/slide41.xml"/><Relationship Id="rId51" Type="http://schemas.openxmlformats.org/officeDocument/2006/relationships/slide" Target="slides/slide42.xml"/><Relationship Id="rId52" Type="http://schemas.openxmlformats.org/officeDocument/2006/relationships/slide" Target="slides/slide43.xml"/><Relationship Id="rId53" Type="http://schemas.openxmlformats.org/officeDocument/2006/relationships/slide" Target="slides/slide44.xml"/><Relationship Id="rId54" Type="http://schemas.openxmlformats.org/officeDocument/2006/relationships/slide" Target="slides/slide45.xml"/><Relationship Id="rId55" Type="http://schemas.openxmlformats.org/officeDocument/2006/relationships/slide" Target="slides/slide46.xml"/><Relationship Id="rId56" Type="http://schemas.openxmlformats.org/officeDocument/2006/relationships/slide" Target="slides/slide47.xml"/><Relationship Id="rId57" Type="http://schemas.openxmlformats.org/officeDocument/2006/relationships/slide" Target="slides/slide48.xml"/><Relationship Id="rId58" Type="http://schemas.openxmlformats.org/officeDocument/2006/relationships/slide" Target="slides/slide49.xml"/><Relationship Id="rId59" Type="http://schemas.openxmlformats.org/officeDocument/2006/relationships/slide" Target="slides/slide50.xml"/><Relationship Id="rId60" Type="http://schemas.openxmlformats.org/officeDocument/2006/relationships/slide" Target="slides/slide51.xml"/><Relationship Id="rId61" Type="http://schemas.openxmlformats.org/officeDocument/2006/relationships/slide" Target="slides/slide52.xml"/><Relationship Id="rId62" Type="http://schemas.openxmlformats.org/officeDocument/2006/relationships/slide" Target="slides/slide53.xml"/><Relationship Id="rId63" Type="http://schemas.openxmlformats.org/officeDocument/2006/relationships/slide" Target="slides/slide54.xml"/><Relationship Id="rId64" Type="http://schemas.openxmlformats.org/officeDocument/2006/relationships/slide" Target="slides/slide55.xml"/><Relationship Id="rId65" Type="http://schemas.openxmlformats.org/officeDocument/2006/relationships/slide" Target="slides/slide56.xml"/><Relationship Id="rId66" Type="http://schemas.openxmlformats.org/officeDocument/2006/relationships/slide" Target="slides/slide57.xml"/><Relationship Id="rId67" Type="http://schemas.openxmlformats.org/officeDocument/2006/relationships/slide" Target="slides/slide58.xml"/><Relationship Id="rId68" Type="http://schemas.openxmlformats.org/officeDocument/2006/relationships/slide" Target="slides/slide59.xml"/><Relationship Id="rId69" Type="http://schemas.openxmlformats.org/officeDocument/2006/relationships/slide" Target="slides/slide60.xml"/><Relationship Id="rId70" Type="http://schemas.openxmlformats.org/officeDocument/2006/relationships/slide" Target="slides/slide61.xml"/><Relationship Id="rId71" Type="http://schemas.openxmlformats.org/officeDocument/2006/relationships/slide" Target="slides/slide62.xml"/><Relationship Id="rId72" Type="http://schemas.openxmlformats.org/officeDocument/2006/relationships/slide" Target="slides/slide63.xml"/><Relationship Id="rId73" Type="http://schemas.openxmlformats.org/officeDocument/2006/relationships/slide" Target="slides/slide64.xml"/><Relationship Id="rId74" Type="http://schemas.openxmlformats.org/officeDocument/2006/relationships/slide" Target="slides/slide65.xml"/><Relationship Id="rId75" Type="http://schemas.openxmlformats.org/officeDocument/2006/relationships/slide" Target="slides/slide66.xml"/><Relationship Id="rId76" Type="http://schemas.openxmlformats.org/officeDocument/2006/relationships/slide" Target="slides/slide67.xml"/><Relationship Id="rId77" Type="http://schemas.openxmlformats.org/officeDocument/2006/relationships/slide" Target="slides/slide68.xml"/><Relationship Id="rId78" Type="http://schemas.openxmlformats.org/officeDocument/2006/relationships/slide" Target="slides/slide69.xml"/><Relationship Id="rId79" Type="http://schemas.openxmlformats.org/officeDocument/2006/relationships/slide" Target="slides/slide70.xml"/><Relationship Id="rId80" Type="http://schemas.openxmlformats.org/officeDocument/2006/relationships/slide" Target="slides/slide71.xml"/><Relationship Id="rId81" Type="http://schemas.openxmlformats.org/officeDocument/2006/relationships/slide" Target="slides/slide72.xml"/><Relationship Id="rId82" Type="http://schemas.openxmlformats.org/officeDocument/2006/relationships/slide" Target="slides/slide73.xml"/><Relationship Id="rId83" Type="http://schemas.openxmlformats.org/officeDocument/2006/relationships/slide" Target="slides/slide74.xml"/><Relationship Id="rId84" Type="http://schemas.openxmlformats.org/officeDocument/2006/relationships/slide" Target="slides/slide75.xml"/><Relationship Id="rId85" Type="http://schemas.openxmlformats.org/officeDocument/2006/relationships/slide" Target="slides/slide76.xml"/><Relationship Id="rId86" Type="http://schemas.openxmlformats.org/officeDocument/2006/relationships/slide" Target="slides/slide77.xml"/><Relationship Id="rId87" Type="http://schemas.openxmlformats.org/officeDocument/2006/relationships/slide" Target="slides/slide78.xml"/><Relationship Id="rId88" Type="http://schemas.openxmlformats.org/officeDocument/2006/relationships/slide" Target="slides/slide79.xml"/><Relationship Id="rId89" Type="http://schemas.openxmlformats.org/officeDocument/2006/relationships/slide" Target="slides/slide80.xml"/><Relationship Id="rId90" Type="http://schemas.openxmlformats.org/officeDocument/2006/relationships/slide" Target="slides/slide81.xml"/><Relationship Id="rId91" Type="http://schemas.openxmlformats.org/officeDocument/2006/relationships/slide" Target="slides/slide82.xml"/><Relationship Id="rId92" Type="http://schemas.openxmlformats.org/officeDocument/2006/relationships/slide" Target="slides/slide83.xml"/><Relationship Id="rId93" Type="http://schemas.openxmlformats.org/officeDocument/2006/relationships/slide" Target="slides/slide84.xml"/><Relationship Id="rId94" Type="http://schemas.openxmlformats.org/officeDocument/2006/relationships/slide" Target="slides/slide85.xml"/><Relationship Id="rId95" Type="http://schemas.openxmlformats.org/officeDocument/2006/relationships/slide" Target="slides/slide86.xml"/><Relationship Id="rId96" Type="http://schemas.openxmlformats.org/officeDocument/2006/relationships/slide" Target="slides/slide87.xml"/><Relationship Id="rId97" Type="http://schemas.openxmlformats.org/officeDocument/2006/relationships/slide" Target="slides/slide88.xml"/><Relationship Id="rId98" Type="http://schemas.openxmlformats.org/officeDocument/2006/relationships/slide" Target="slides/slide89.xml"/><Relationship Id="rId99" Type="http://schemas.openxmlformats.org/officeDocument/2006/relationships/slide" Target="slides/slide90.xml"/><Relationship Id="rId100" Type="http://schemas.openxmlformats.org/officeDocument/2006/relationships/slide" Target="slides/slide91.xml"/><Relationship Id="rId101" Type="http://schemas.openxmlformats.org/officeDocument/2006/relationships/slide" Target="slides/slide92.xml"/><Relationship Id="rId102" Type="http://schemas.openxmlformats.org/officeDocument/2006/relationships/slide" Target="slides/slide93.xml"/><Relationship Id="rId103" Type="http://schemas.openxmlformats.org/officeDocument/2006/relationships/slide" Target="slides/slide94.xml"/><Relationship Id="rId104" Type="http://schemas.openxmlformats.org/officeDocument/2006/relationships/slide" Target="slides/slide95.xml"/><Relationship Id="rId105" Type="http://schemas.openxmlformats.org/officeDocument/2006/relationships/slide" Target="slides/slide96.xml"/><Relationship Id="rId106" Type="http://schemas.openxmlformats.org/officeDocument/2006/relationships/slide" Target="slides/slide97.xml"/><Relationship Id="rId107" Type="http://schemas.openxmlformats.org/officeDocument/2006/relationships/slide" Target="slides/slide98.xml"/><Relationship Id="rId108" Type="http://schemas.openxmlformats.org/officeDocument/2006/relationships/slide" Target="slides/slide99.xml"/><Relationship Id="rId109" Type="http://schemas.openxmlformats.org/officeDocument/2006/relationships/slide" Target="slides/slide100.xml"/><Relationship Id="rId110" Type="http://schemas.openxmlformats.org/officeDocument/2006/relationships/slide" Target="slides/slide101.xml"/><Relationship Id="rId111" Type="http://schemas.openxmlformats.org/officeDocument/2006/relationships/slide" Target="slides/slide102.xml"/><Relationship Id="rId112" Type="http://schemas.openxmlformats.org/officeDocument/2006/relationships/slide" Target="slides/slide103.xml"/><Relationship Id="rId113" Type="http://schemas.openxmlformats.org/officeDocument/2006/relationships/slide" Target="slides/slide104.xml"/><Relationship Id="rId114" Type="http://schemas.openxmlformats.org/officeDocument/2006/relationships/slide" Target="slides/slide105.xml"/><Relationship Id="rId115" Type="http://schemas.openxmlformats.org/officeDocument/2006/relationships/slide" Target="slides/slide106.xml"/><Relationship Id="rId116" Type="http://schemas.openxmlformats.org/officeDocument/2006/relationships/slide" Target="slides/slide107.xml"/><Relationship Id="rId117" Type="http://schemas.openxmlformats.org/officeDocument/2006/relationships/slide" Target="slides/slide108.xml"/><Relationship Id="rId118" Type="http://schemas.openxmlformats.org/officeDocument/2006/relationships/slide" Target="slides/slide109.xml"/><Relationship Id="rId119" Type="http://schemas.openxmlformats.org/officeDocument/2006/relationships/slide" Target="slides/slide110.xml"/><Relationship Id="rId120" Type="http://schemas.openxmlformats.org/officeDocument/2006/relationships/slide" Target="slides/slide111.xml"/><Relationship Id="rId121" Type="http://schemas.openxmlformats.org/officeDocument/2006/relationships/slide" Target="slides/slide112.xml"/><Relationship Id="rId122" Type="http://schemas.openxmlformats.org/officeDocument/2006/relationships/slide" Target="slides/slide113.xml"/><Relationship Id="rId123" Type="http://schemas.openxmlformats.org/officeDocument/2006/relationships/slide" Target="slides/slide114.xml"/><Relationship Id="rId124" Type="http://schemas.openxmlformats.org/officeDocument/2006/relationships/slide" Target="slides/slide115.xml"/><Relationship Id="rId125" Type="http://schemas.openxmlformats.org/officeDocument/2006/relationships/slide" Target="slides/slide116.xml"/><Relationship Id="rId126" Type="http://schemas.openxmlformats.org/officeDocument/2006/relationships/slide" Target="slides/slide117.xml"/><Relationship Id="rId127" Type="http://schemas.openxmlformats.org/officeDocument/2006/relationships/slide" Target="slides/slide118.xml"/><Relationship Id="rId128" Type="http://schemas.openxmlformats.org/officeDocument/2006/relationships/slide" Target="slides/slide119.xml"/><Relationship Id="rId129" Type="http://schemas.openxmlformats.org/officeDocument/2006/relationships/slide" Target="slides/slide120.xml"/><Relationship Id="rId130" Type="http://schemas.openxmlformats.org/officeDocument/2006/relationships/slide" Target="slides/slide121.xml"/><Relationship Id="rId131" Type="http://schemas.openxmlformats.org/officeDocument/2006/relationships/slide" Target="slides/slide122.xml"/><Relationship Id="rId132" Type="http://schemas.openxmlformats.org/officeDocument/2006/relationships/slide" Target="slides/slide123.xml"/><Relationship Id="rId133" Type="http://schemas.openxmlformats.org/officeDocument/2006/relationships/slide" Target="slides/slide124.xml"/><Relationship Id="rId134" Type="http://schemas.openxmlformats.org/officeDocument/2006/relationships/slide" Target="slides/slide125.xml"/><Relationship Id="rId135" Type="http://schemas.openxmlformats.org/officeDocument/2006/relationships/slide" Target="slides/slide126.xml"/><Relationship Id="rId136" Type="http://schemas.openxmlformats.org/officeDocument/2006/relationships/slide" Target="slides/slide127.xml"/><Relationship Id="rId137" Type="http://schemas.openxmlformats.org/officeDocument/2006/relationships/slide" Target="slides/slide128.xml"/><Relationship Id="rId138" Type="http://schemas.openxmlformats.org/officeDocument/2006/relationships/slide" Target="slides/slide129.xml"/><Relationship Id="rId139" Type="http://schemas.openxmlformats.org/officeDocument/2006/relationships/slide" Target="slides/slide130.xml"/><Relationship Id="rId140" Type="http://schemas.openxmlformats.org/officeDocument/2006/relationships/slide" Target="slides/slide131.xml"/><Relationship Id="rId141" Type="http://schemas.openxmlformats.org/officeDocument/2006/relationships/slide" Target="slides/slide132.xml"/><Relationship Id="rId142" Type="http://schemas.openxmlformats.org/officeDocument/2006/relationships/slide" Target="slides/slide133.xml"/><Relationship Id="rId143" Type="http://schemas.openxmlformats.org/officeDocument/2006/relationships/slide" Target="slides/slide134.xml"/><Relationship Id="rId144" Type="http://schemas.openxmlformats.org/officeDocument/2006/relationships/slide" Target="slides/slide135.xml"/><Relationship Id="rId145" Type="http://schemas.openxmlformats.org/officeDocument/2006/relationships/slide" Target="slides/slide136.xml"/><Relationship Id="rId146" Type="http://schemas.openxmlformats.org/officeDocument/2006/relationships/slide" Target="slides/slide137.xml"/><Relationship Id="rId147" Type="http://schemas.openxmlformats.org/officeDocument/2006/relationships/slide" Target="slides/slide138.xml"/><Relationship Id="rId148" Type="http://schemas.openxmlformats.org/officeDocument/2006/relationships/slide" Target="slides/slide139.xml"/><Relationship Id="rId149" Type="http://schemas.openxmlformats.org/officeDocument/2006/relationships/slide" Target="slides/slide140.xml"/><Relationship Id="rId150" Type="http://schemas.openxmlformats.org/officeDocument/2006/relationships/slide" Target="slides/slide141.xml"/><Relationship Id="rId151" Type="http://schemas.openxmlformats.org/officeDocument/2006/relationships/slide" Target="slides/slide142.xml"/><Relationship Id="rId152" Type="http://schemas.openxmlformats.org/officeDocument/2006/relationships/slide" Target="slides/slide143.xml"/><Relationship Id="rId153" Type="http://schemas.openxmlformats.org/officeDocument/2006/relationships/slide" Target="slides/slide144.xml"/><Relationship Id="rId154" Type="http://schemas.openxmlformats.org/officeDocument/2006/relationships/slide" Target="slides/slide145.xml"/><Relationship Id="rId155" Type="http://schemas.openxmlformats.org/officeDocument/2006/relationships/slide" Target="slides/slide146.xml"/><Relationship Id="rId156" Type="http://schemas.openxmlformats.org/officeDocument/2006/relationships/slide" Target="slides/slide147.xml"/><Relationship Id="rId157" Type="http://schemas.openxmlformats.org/officeDocument/2006/relationships/slide" Target="slides/slide148.xml"/><Relationship Id="rId158" Type="http://schemas.openxmlformats.org/officeDocument/2006/relationships/slide" Target="slides/slide149.xml"/><Relationship Id="rId159" Type="http://schemas.openxmlformats.org/officeDocument/2006/relationships/slide" Target="slides/slide150.xml"/><Relationship Id="rId160" Type="http://schemas.openxmlformats.org/officeDocument/2006/relationships/slide" Target="slides/slide151.xml"/><Relationship Id="rId161" Type="http://schemas.openxmlformats.org/officeDocument/2006/relationships/slide" Target="slides/slide152.xml"/><Relationship Id="rId162" Type="http://schemas.openxmlformats.org/officeDocument/2006/relationships/slide" Target="slides/slide153.xml"/><Relationship Id="rId163" Type="http://schemas.openxmlformats.org/officeDocument/2006/relationships/slide" Target="slides/slide154.xml"/><Relationship Id="rId164" Type="http://schemas.openxmlformats.org/officeDocument/2006/relationships/slide" Target="slides/slide155.xml"/><Relationship Id="rId165" Type="http://schemas.openxmlformats.org/officeDocument/2006/relationships/slide" Target="slides/slide156.xml"/><Relationship Id="rId166" Type="http://schemas.openxmlformats.org/officeDocument/2006/relationships/slide" Target="slides/slide157.xml"/><Relationship Id="rId167" Type="http://schemas.openxmlformats.org/officeDocument/2006/relationships/slide" Target="slides/slide158.xml"/><Relationship Id="rId168" Type="http://schemas.openxmlformats.org/officeDocument/2006/relationships/slide" Target="slides/slide159.xml"/><Relationship Id="rId169" Type="http://schemas.openxmlformats.org/officeDocument/2006/relationships/slide" Target="slides/slide160.xml"/><Relationship Id="rId170" Type="http://schemas.openxmlformats.org/officeDocument/2006/relationships/slide" Target="slides/slide161.xml"/><Relationship Id="rId171" Type="http://schemas.openxmlformats.org/officeDocument/2006/relationships/slide" Target="slides/slide162.xml"/><Relationship Id="rId172" Type="http://schemas.openxmlformats.org/officeDocument/2006/relationships/slide" Target="slides/slide163.xml"/><Relationship Id="rId173" Type="http://schemas.openxmlformats.org/officeDocument/2006/relationships/slide" Target="slides/slide164.xml"/><Relationship Id="rId174" Type="http://schemas.openxmlformats.org/officeDocument/2006/relationships/slide" Target="slides/slide165.xml"/><Relationship Id="rId175" Type="http://schemas.openxmlformats.org/officeDocument/2006/relationships/slide" Target="slides/slide166.xml"/><Relationship Id="rId176" Type="http://schemas.openxmlformats.org/officeDocument/2006/relationships/slide" Target="slides/slide167.xml"/><Relationship Id="rId177" Type="http://schemas.openxmlformats.org/officeDocument/2006/relationships/slide" Target="slides/slide168.xml"/><Relationship Id="rId178" Type="http://schemas.openxmlformats.org/officeDocument/2006/relationships/slide" Target="slides/slide169.xml"/><Relationship Id="rId179" Type="http://schemas.openxmlformats.org/officeDocument/2006/relationships/slide" Target="slides/slide170.xml"/><Relationship Id="rId180" Type="http://schemas.openxmlformats.org/officeDocument/2006/relationships/slide" Target="slides/slide171.xml"/><Relationship Id="rId181" Type="http://schemas.openxmlformats.org/officeDocument/2006/relationships/slide" Target="slides/slide172.xml"/><Relationship Id="rId182" Type="http://schemas.openxmlformats.org/officeDocument/2006/relationships/slide" Target="slides/slide173.xml"/><Relationship Id="rId183" Type="http://schemas.openxmlformats.org/officeDocument/2006/relationships/slide" Target="slides/slide174.xml"/><Relationship Id="rId184" Type="http://schemas.openxmlformats.org/officeDocument/2006/relationships/slide" Target="slides/slide175.xml"/><Relationship Id="rId185" Type="http://schemas.openxmlformats.org/officeDocument/2006/relationships/slide" Target="slides/slide176.xml"/><Relationship Id="rId186" Type="http://schemas.openxmlformats.org/officeDocument/2006/relationships/slide" Target="slides/slide177.xml"/><Relationship Id="rId187" Type="http://schemas.openxmlformats.org/officeDocument/2006/relationships/slide" Target="slides/slide178.xml"/><Relationship Id="rId188" Type="http://schemas.openxmlformats.org/officeDocument/2006/relationships/slide" Target="slides/slide179.xml"/><Relationship Id="rId189" Type="http://schemas.openxmlformats.org/officeDocument/2006/relationships/slide" Target="slides/slide180.xml"/><Relationship Id="rId190" Type="http://schemas.openxmlformats.org/officeDocument/2006/relationships/slide" Target="slides/slide181.xml"/><Relationship Id="rId191" Type="http://schemas.openxmlformats.org/officeDocument/2006/relationships/slide" Target="slides/slide182.xml"/><Relationship Id="rId192" Type="http://schemas.openxmlformats.org/officeDocument/2006/relationships/slide" Target="slides/slide183.xml"/><Relationship Id="rId193" Type="http://schemas.openxmlformats.org/officeDocument/2006/relationships/slide" Target="slides/slide184.xml"/><Relationship Id="rId194" Type="http://schemas.openxmlformats.org/officeDocument/2006/relationships/slide" Target="slides/slide185.xml"/><Relationship Id="rId195" Type="http://schemas.openxmlformats.org/officeDocument/2006/relationships/slide" Target="slides/slide186.xml"/><Relationship Id="rId196" Type="http://schemas.openxmlformats.org/officeDocument/2006/relationships/slide" Target="slides/slide187.xml"/><Relationship Id="rId197" Type="http://schemas.openxmlformats.org/officeDocument/2006/relationships/slide" Target="slides/slide188.xml"/><Relationship Id="rId198" Type="http://schemas.openxmlformats.org/officeDocument/2006/relationships/slide" Target="slides/slide189.xml"/><Relationship Id="rId199" Type="http://schemas.openxmlformats.org/officeDocument/2006/relationships/slide" Target="slides/slide190.xml"/><Relationship Id="rId200" Type="http://schemas.openxmlformats.org/officeDocument/2006/relationships/slide" Target="slides/slide191.xml"/><Relationship Id="rId201" Type="http://schemas.openxmlformats.org/officeDocument/2006/relationships/slide" Target="slides/slide192.xml"/><Relationship Id="rId202" Type="http://schemas.openxmlformats.org/officeDocument/2006/relationships/slide" Target="slides/slide193.xml"/><Relationship Id="rId203" Type="http://schemas.openxmlformats.org/officeDocument/2006/relationships/slide" Target="slides/slide194.xml"/><Relationship Id="rId204" Type="http://schemas.openxmlformats.org/officeDocument/2006/relationships/slide" Target="slides/slide195.xml"/><Relationship Id="rId205" Type="http://schemas.openxmlformats.org/officeDocument/2006/relationships/slide" Target="slides/slide196.xml"/><Relationship Id="rId206" Type="http://schemas.openxmlformats.org/officeDocument/2006/relationships/slide" Target="slides/slide197.xml"/><Relationship Id="rId207" Type="http://schemas.openxmlformats.org/officeDocument/2006/relationships/slide" Target="slides/slide198.xml"/><Relationship Id="rId208" Type="http://schemas.openxmlformats.org/officeDocument/2006/relationships/slide" Target="slides/slide199.xml"/><Relationship Id="rId209" Type="http://schemas.openxmlformats.org/officeDocument/2006/relationships/slide" Target="slides/slide200.xml"/><Relationship Id="rId210" Type="http://schemas.openxmlformats.org/officeDocument/2006/relationships/slide" Target="slides/slide201.xml"/><Relationship Id="rId211" Type="http://schemas.openxmlformats.org/officeDocument/2006/relationships/slide" Target="slides/slide202.xml"/><Relationship Id="rId212" Type="http://schemas.openxmlformats.org/officeDocument/2006/relationships/slide" Target="slides/slide203.xml"/><Relationship Id="rId213" Type="http://schemas.openxmlformats.org/officeDocument/2006/relationships/slide" Target="slides/slide204.xml"/><Relationship Id="rId214" Type="http://schemas.openxmlformats.org/officeDocument/2006/relationships/slide" Target="slides/slide205.xml"/><Relationship Id="rId215" Type="http://schemas.openxmlformats.org/officeDocument/2006/relationships/slide" Target="slides/slide206.xml"/><Relationship Id="rId216" Type="http://schemas.openxmlformats.org/officeDocument/2006/relationships/slide" Target="slides/slide207.xml"/><Relationship Id="rId217" Type="http://schemas.openxmlformats.org/officeDocument/2006/relationships/slide" Target="slides/slide208.xml"/><Relationship Id="rId218" Type="http://schemas.openxmlformats.org/officeDocument/2006/relationships/slide" Target="slides/slide209.xml"/><Relationship Id="rId219" Type="http://schemas.openxmlformats.org/officeDocument/2006/relationships/slide" Target="slides/slide210.xml"/><Relationship Id="rId220" Type="http://schemas.openxmlformats.org/officeDocument/2006/relationships/slide" Target="slides/slide211.xml"/><Relationship Id="rId221" Type="http://schemas.openxmlformats.org/officeDocument/2006/relationships/slide" Target="slides/slide212.xml"/><Relationship Id="rId222" Type="http://schemas.openxmlformats.org/officeDocument/2006/relationships/slide" Target="slides/slide213.xml"/><Relationship Id="rId223" Type="http://schemas.openxmlformats.org/officeDocument/2006/relationships/slide" Target="slides/slide214.xml"/><Relationship Id="rId224" Type="http://schemas.openxmlformats.org/officeDocument/2006/relationships/slide" Target="slides/slide215.xml"/><Relationship Id="rId227" Type="http://schemas.openxmlformats.org/officeDocument/2006/relationships/slide" Target="slides/slide216.xml"/><Relationship Id="rId228" Type="http://schemas.openxmlformats.org/officeDocument/2006/relationships/slide" Target="slides/slide21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question-to-resolution trace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Draft 1</c:v>
                </c:pt>
                <c:pt idx="1">
                  <c:v>After review</c:v>
                </c:pt>
                <c:pt idx="2">
                  <c:v>Release gate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</c:v>
                </c:pt>
                <c:pt idx="1">
                  <c:v>67</c:v>
                </c:pt>
                <c:pt idx="2">
                  <c:v>84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relationship-state changes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Draft 1</c:v>
                </c:pt>
                <c:pt idx="1">
                  <c:v>After review</c:v>
                </c:pt>
                <c:pt idx="2">
                  <c:v>Release gate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49</c:v>
                </c:pt>
                <c:pt idx="1">
                  <c:v>71</c:v>
                </c:pt>
                <c:pt idx="2">
                  <c:v>88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documented human contribution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Draft 1</c:v>
                </c:pt>
                <c:pt idx="1">
                  <c:v>After review</c:v>
                </c:pt>
                <c:pt idx="2">
                  <c:v>Release gate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53</c:v>
                </c:pt>
                <c:pt idx="1">
                  <c:v>75</c:v>
                </c:pt>
                <c:pt idx="2">
                  <c:v>92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hard-rule pass rate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Draft 1</c:v>
                </c:pt>
                <c:pt idx="1">
                  <c:v>After review</c:v>
                </c:pt>
                <c:pt idx="2">
                  <c:v>Release gate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</c:v>
                </c:pt>
                <c:pt idx="1">
                  <c:v>67</c:v>
                </c:pt>
                <c:pt idx="2">
                  <c:v>84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prompt field completeness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Draft 1</c:v>
                </c:pt>
                <c:pt idx="1">
                  <c:v>After review</c:v>
                </c:pt>
                <c:pt idx="2">
                  <c:v>Release gate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49</c:v>
                </c:pt>
                <c:pt idx="1">
                  <c:v>71</c:v>
                </c:pt>
                <c:pt idx="2">
                  <c:v>88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duration variance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Draft 1</c:v>
                </c:pt>
                <c:pt idx="1">
                  <c:v>After review</c:v>
                </c:pt>
                <c:pt idx="2">
                  <c:v>Release gate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53</c:v>
                </c:pt>
                <c:pt idx="1">
                  <c:v>75</c:v>
                </c:pt>
                <c:pt idx="2">
                  <c:v>92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subtext-bearing line rate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Draft 1</c:v>
                </c:pt>
                <c:pt idx="1">
                  <c:v>After review</c:v>
                </c:pt>
                <c:pt idx="2">
                  <c:v>Release gate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80</c:v>
                </c:pt>
                <c:pt idx="1">
                  <c:v>54</c:v>
                </c:pt>
                <c:pt idx="2">
                  <c:v>22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information units per minute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Draft 1</c:v>
                </c:pt>
                <c:pt idx="1">
                  <c:v>After review</c:v>
                </c:pt>
                <c:pt idx="2">
                  <c:v>Release gate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49</c:v>
                </c:pt>
                <c:pt idx="1">
                  <c:v>71</c:v>
                </c:pt>
                <c:pt idx="2">
                  <c:v>88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critical defect count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Draft 1</c:v>
                </c:pt>
                <c:pt idx="1">
                  <c:v>After review</c:v>
                </c:pt>
                <c:pt idx="2">
                  <c:v>Release gate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72</c:v>
                </c:pt>
                <c:pt idx="1">
                  <c:v>46</c:v>
                </c:pt>
                <c:pt idx="2">
                  <c:v>14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outcome asymmetry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Draft 1</c:v>
                </c:pt>
                <c:pt idx="1">
                  <c:v>After review</c:v>
                </c:pt>
                <c:pt idx="2">
                  <c:v>Release gate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</c:v>
                </c:pt>
                <c:pt idx="1">
                  <c:v>67</c:v>
                </c:pt>
                <c:pt idx="2">
                  <c:v>84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decision trace completeness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Draft 1</c:v>
                </c:pt>
                <c:pt idx="1">
                  <c:v>After review</c:v>
                </c:pt>
                <c:pt idx="2">
                  <c:v>Release gate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49</c:v>
                </c:pt>
                <c:pt idx="1">
                  <c:v>71</c:v>
                </c:pt>
                <c:pt idx="2">
                  <c:v>88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approval audit completeness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Draft 1</c:v>
                </c:pt>
                <c:pt idx="1">
                  <c:v>After review</c:v>
                </c:pt>
                <c:pt idx="2">
                  <c:v>Release gate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53</c:v>
                </c:pt>
                <c:pt idx="1">
                  <c:v>75</c:v>
                </c:pt>
                <c:pt idx="2">
                  <c:v>92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decision evidence density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Draft 1</c:v>
                </c:pt>
                <c:pt idx="1">
                  <c:v>After review</c:v>
                </c:pt>
                <c:pt idx="2">
                  <c:v>Release gate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</c:v>
                </c:pt>
                <c:pt idx="1">
                  <c:v>67</c:v>
                </c:pt>
                <c:pt idx="2">
                  <c:v>84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cleared audio share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Draft 1</c:v>
                </c:pt>
                <c:pt idx="1">
                  <c:v>After review</c:v>
                </c:pt>
                <c:pt idx="2">
                  <c:v>Release gate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49</c:v>
                </c:pt>
                <c:pt idx="1">
                  <c:v>71</c:v>
                </c:pt>
                <c:pt idx="2">
                  <c:v>88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release-gate pass rate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Draft 1</c:v>
                </c:pt>
                <c:pt idx="1">
                  <c:v>After review</c:v>
                </c:pt>
                <c:pt idx="2">
                  <c:v>Release gate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53</c:v>
                </c:pt>
                <c:pt idx="1">
                  <c:v>75</c:v>
                </c:pt>
                <c:pt idx="2">
                  <c:v>92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ms-tms.tertiaryinfotech.com/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2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4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5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cript-to-screen-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0"/>
            <a:ext cx="725119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52578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ertiary-infotech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475488"/>
            <a:ext cx="658368" cy="6583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1481328"/>
            <a:ext cx="429768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008B8B"/>
                </a:solidFill>
                <a:latin typeface="Aptos"/>
              </a:defRPr>
            </a:pPr>
            <a:r>
              <a:t>NON-WSQ COURSE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938528"/>
            <a:ext cx="4434840" cy="2011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600" b="1">
                <a:solidFill>
                  <a:srgbClr val="182840"/>
                </a:solidFill>
                <a:latin typeface="Aptos"/>
              </a:defRPr>
            </a:pPr>
            <a:r>
              <a:t>Generative AI for Script Development and Storytelling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187952"/>
            <a:ext cx="42062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000" b="1">
                <a:solidFill>
                  <a:srgbClr val="1D2A37"/>
                </a:solidFill>
                <a:latin typeface="Aptos"/>
              </a:defRPr>
            </a:pPr>
            <a:r>
              <a:t>C364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718304"/>
            <a:ext cx="4297680" cy="731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536570"/>
                </a:solidFill>
                <a:latin typeface="Aptos"/>
              </a:defRPr>
            </a:pPr>
            <a:r>
              <a:t>Tertiary Infotech Academy Pte Ltd · UEN 201200696W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998464"/>
            <a:ext cx="429768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v1.0  ·  19 September 2026</a:t>
            </a:r>
          </a:p>
        </p:txBody>
      </p:sp>
    </p:spTree>
  </p:cSld>
  <p:clrMapOvr>
    <a:masterClrMapping/>
  </p:clrMapOvr>
  <p:transition spd="fast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LMS-TMS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Download course materials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COURSE PAGE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Open your enrolled course in LMS-TMS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LEARNER GUIDE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Use the Learner Guide folder and slide PDF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LABS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Open the matching numbered lab folder</a:t>
            </a:r>
          </a:p>
        </p:txBody>
      </p:sp>
      <p:sp>
        <p:nvSpPr>
          <p:cNvPr id="23" name="TextBox 22">
            <a:hlinkClick r:id="rId2"/>
          </p:cNvPr>
          <p:cNvSpPr txBox="1"/>
          <p:nvPr/>
        </p:nvSpPr>
        <p:spPr>
          <a:xfrm>
            <a:off x="804672" y="5230368"/>
            <a:ext cx="1060704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800" b="1">
                <a:solidFill>
                  <a:srgbClr val="008B8B"/>
                </a:solidFill>
                <a:latin typeface="Aptos"/>
              </a:defRPr>
            </a:pPr>
            <a:r>
              <a:t>https://lms-tms.tertiaryinfotech.com/</a:t>
            </a: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PROFILE TEMPLATE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Your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901952"/>
            <a:ext cx="4709160" cy="3977639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901952"/>
            <a:ext cx="91440" cy="3977639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066544"/>
            <a:ext cx="425196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TRAINER NAME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514600"/>
            <a:ext cx="4251960" cy="32644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0">
                <a:solidFill>
                  <a:srgbClr val="1D2A37"/>
                </a:solidFill>
                <a:latin typeface="Aptos"/>
              </a:defRPr>
            </a:pPr>
            <a:r>
              <a:t>[Trainer name]</a:t>
            </a:r>
            <a:br/>
            <a:r>
              <a:t>Script development, storytelling and generative media facilitator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32120" y="1901952"/>
            <a:ext cx="5961888" cy="3977639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32120" y="1901952"/>
            <a:ext cx="91440" cy="3977639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0" y="2066544"/>
            <a:ext cx="550468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CLASS CONTACT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2514600"/>
            <a:ext cx="5504688" cy="32644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0">
                <a:solidFill>
                  <a:srgbClr val="1D2A37"/>
                </a:solidFill>
                <a:latin typeface="Aptos"/>
              </a:defRPr>
            </a:pPr>
            <a:r>
              <a:t>[Trainer email]</a:t>
            </a:r>
            <a:br/>
            <a:r>
              <a:t>Ask for review of the story, continuity and rights packet before treating an asset as approved.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TRAINER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Dr Alfred Ang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901952"/>
            <a:ext cx="4709160" cy="3977639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901952"/>
            <a:ext cx="91440" cy="3977639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066544"/>
            <a:ext cx="425196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COURSE LEAD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514600"/>
            <a:ext cx="4251960" cy="32644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Dr Alfred Ang</a:t>
            </a:r>
            <a:br/>
            <a:r>
              <a:t>Tertiary Infotech Academy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32120" y="1901952"/>
            <a:ext cx="5961888" cy="3977639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32120" y="1901952"/>
            <a:ext cx="91440" cy="3977639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0" y="2066544"/>
            <a:ext cx="550468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LEARNING FOCUS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2514600"/>
            <a:ext cx="5504688" cy="32644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0">
                <a:solidFill>
                  <a:srgbClr val="1D2A37"/>
                </a:solidFill>
                <a:latin typeface="Aptos"/>
              </a:defRPr>
            </a:pPr>
            <a:r>
              <a:t>Human creative direction, narrative craft, multimodal continuity and responsible AI production.</a:t>
            </a: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SCRIPT-TO-SCREEN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Human-directed generative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DIRECT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Human creator defines story intent and constraints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GENERATE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AI proposes structured text, image and audio assets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VERIFY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Human reviews continuity, ethics, rights and release evidence</a:t>
            </a: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12648"/>
            <a:ext cx="11109960" cy="10241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600" b="1">
                <a:solidFill>
                  <a:srgbClr val="182840"/>
                </a:solidFill>
                <a:latin typeface="Aptos"/>
              </a:defRPr>
            </a:pPr>
            <a:r>
              <a:rPr sz="2300"/>
              <a:t>Topic 1: Story architecture, world-building and character systems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66420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6</a:t>
            </a:r>
          </a:p>
        </p:txBody>
      </p:sp>
      <p:pic>
        <p:nvPicPr>
          <p:cNvPr id="9" name="Picture 8" descr="story-architecture-de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856231"/>
            <a:ext cx="6675120" cy="424281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98079" y="1856231"/>
            <a:ext cx="4187952" cy="4242816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2304288"/>
            <a:ext cx="3547872" cy="2651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1">
                <a:solidFill>
                  <a:srgbClr val="182840"/>
                </a:solidFill>
                <a:latin typeface="Aptos"/>
              </a:defRPr>
            </a:pPr>
            <a:r>
              <a:t>LO1: Use generative AI techniques to develop compelling script elements enriched with narrative structure and creative storytelling.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5404104"/>
            <a:ext cx="356616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008B8B"/>
                </a:solidFill>
                <a:latin typeface="Aptos"/>
              </a:defRPr>
            </a:pPr>
            <a:r>
              <a:t>10 mechanisms · 2 labs</a:t>
            </a:r>
          </a:p>
        </p:txBody>
      </p:sp>
    </p:spTree>
  </p:cSld>
  <p:clrMapOvr>
    <a:masterClrMapping/>
  </p:clrMapOvr>
  <p:transition spd="fast">
    <p:push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Premise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creative brief and audience need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compress protagonist, goal, obstacle, stakes and change into one causal sentence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premise record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every clause must affect the central conflict</a:t>
            </a:r>
          </a:p>
        </p:txBody>
      </p:sp>
    </p:spTree>
  </p:cSld>
  <p:clrMapOvr>
    <a:masterClrMapping/>
  </p:clrMapOvr>
  <p:transition spd="fast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Premise contract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331720"/>
            <a:ext cx="10561320" cy="54864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7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BRIEF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creative brief and audience need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4441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4441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4149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95777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compress protagonist, goal, obstacle, stakes and change into one causal sentence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04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04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2754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DRAFT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18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premise record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1651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1651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359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787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premise field coverage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025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025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9964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DECIDE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539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every clause must affect the central conflict</a:t>
            </a:r>
          </a:p>
        </p:txBody>
      </p:sp>
    </p:spTree>
  </p:cSld>
  <p:clrMapOvr>
    <a:masterClrMapping/>
  </p:clrMapOvr>
  <p:transition spd="fast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Premise contract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83080"/>
            <a:ext cx="5230368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83080"/>
            <a:ext cx="91440" cy="416052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47672"/>
            <a:ext cx="477316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95728"/>
            <a:ext cx="4773168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theme without dramatic action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07608" y="1783080"/>
            <a:ext cx="5669280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07608" y="1783080"/>
            <a:ext cx="91440" cy="41605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947672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REVIEW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2395728"/>
            <a:ext cx="5212080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Check premise field coverage.</a:t>
            </a:r>
            <a:br/>
            <a:r>
              <a:t>Record source, owner and outcome.</a:t>
            </a:r>
            <a:br/>
            <a:r>
              <a:t>Return to the producing agent when the contract fails.</a:t>
            </a:r>
          </a:p>
        </p:txBody>
      </p:sp>
    </p:spTree>
  </p:cSld>
  <p:clrMapOvr>
    <a:masterClrMapping/>
  </p:clrMapOvr>
  <p:transition spd="fast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Premise contract ·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creative brief and audience need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premise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premise field coverage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212080"/>
            <a:ext cx="11201400" cy="841248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41324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82840"/>
                </a:solidFill>
                <a:latin typeface="Aptos"/>
              </a:defRPr>
            </a:pPr>
            <a:r>
              <a:t>Evidence record: story_id · scene_id · artifact_version · source_ids · owner · approval_status</a:t>
            </a:r>
          </a:p>
        </p:txBody>
      </p:sp>
    </p:spTree>
  </p:cSld>
  <p:clrMapOvr>
    <a:masterClrMapping/>
  </p:clrMapOvr>
  <p:transition spd="fast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Story question and controlling idea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premise and intended audience effect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frame the uncertain dramatic question and the value change the ending proves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story spine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ending must answer the opening question</a:t>
            </a:r>
          </a:p>
        </p:txBody>
      </p:sp>
    </p:spTree>
  </p:cSld>
  <p:clrMapOvr>
    <a:masterClrMapping/>
  </p:clrMapOvr>
  <p:transition spd="fast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Story question and controlling idea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01  SCENE 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HL-S01 · version 02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9704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02  STORY 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9704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premise and intended audience effect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03  CREATIVE MOVE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frame the uncertain dramatic question and the value change the ending proves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04  ARTIFACT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story spine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88536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9704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05  HUMAN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9704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question-to-resolution trace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10144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1312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06  ACCEPT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ending must answer the opening question</a:t>
            </a:r>
          </a:p>
        </p:txBody>
      </p:sp>
    </p:spTree>
  </p:cSld>
  <p:clrMapOvr>
    <a:masterClrMapping/>
  </p:clrMapOvr>
  <p:transition spd="fast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Story question and controlling idea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01  OBSERVE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message stated before it is earned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9704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02  MEASURE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9704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question-to-resolution trace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03  LOCATE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scene, line, frame or asset ID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04  CORRECT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frame the uncertain dramatic question and the value change the ending proves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88536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9704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05  RETEST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9704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same criterion and evidence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10144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1312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06  DISPOSITION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PASS · REVISE · BLOCK</a:t>
            </a:r>
          </a:p>
        </p:txBody>
      </p:sp>
    </p:spTree>
  </p:cSld>
  <p:clrMapOvr>
    <a:masterClrMapping/>
  </p:clrMapOvr>
  <p:transition spd="fast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600" b="1">
                <a:solidFill>
                  <a:srgbClr val="182840"/>
                </a:solidFill>
                <a:latin typeface="Aptos"/>
              </a:defRPr>
            </a:pPr>
            <a:r>
              <a:t>Story question and controlling idea · illustrative decision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14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" y="1755648"/>
          <a:ext cx="6583680" cy="427939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589520" y="1883664"/>
            <a:ext cx="4041648" cy="3986784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89520" y="1883664"/>
            <a:ext cx="91440" cy="3986784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2048256"/>
            <a:ext cx="358444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CLASSROOM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2496312"/>
            <a:ext cx="3584448" cy="32735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Illustrative scores only.</a:t>
            </a:r>
            <a:br/>
            <a:r>
              <a:t>Metric: question-to-resolution trace</a:t>
            </a:r>
            <a:br/>
            <a:r>
              <a:t>Compare against a pre-agreed release threshold; inspect evidence before approval.</a:t>
            </a:r>
          </a:p>
        </p:txBody>
      </p:sp>
    </p:spTree>
  </p:cSld>
  <p:clrMapOvr>
    <a:masterClrMapping/>
  </p:clrMapOvr>
  <p:transition spd="fast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Three-act turning-point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story spine and target duration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allocate setup, confrontation and resolution around irreversible decisions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beat sheet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each act turn changes goal, cost or available options</a:t>
            </a:r>
          </a:p>
        </p:txBody>
      </p:sp>
    </p:spTree>
  </p:cSld>
  <p:clrMapOvr>
    <a:masterClrMapping/>
  </p:clrMapOvr>
  <p:transition spd="fast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Three-act turning-point model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46504"/>
            <a:ext cx="519379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46504"/>
            <a:ext cx="91440" cy="42976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11095"/>
            <a:ext cx="473659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HARBOUR LIGHTS · STORY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59152"/>
            <a:ext cx="473659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0">
                <a:solidFill>
                  <a:srgbClr val="1D2A37"/>
                </a:solidFill>
                <a:latin typeface="Aptos"/>
              </a:defRPr>
            </a:pPr>
            <a:r>
              <a:t>Format: 90-second human-interest short</a:t>
            </a:r>
            <a:br/>
            <a:r>
              <a:t>Audience: Singapore adult learners</a:t>
            </a:r>
            <a:br/>
            <a:r>
              <a:t>Input: story spine and target duration</a:t>
            </a:r>
            <a:br/>
            <a:r>
              <a:t>Creative operation: allocate setup, confrontation and resolution around irreversible decisions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0176" y="1746504"/>
            <a:ext cx="569671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0176" y="1746504"/>
            <a:ext cx="91440" cy="42976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08776" y="1911095"/>
            <a:ext cx="523951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STRUCTURED ARTIFACT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2359152"/>
            <a:ext cx="523951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0">
                <a:solidFill>
                  <a:srgbClr val="1D2A37"/>
                </a:solidFill>
                <a:latin typeface="Aptos"/>
              </a:defRPr>
            </a:pPr>
            <a:r>
              <a:t>artifact_type: beat sheet</a:t>
            </a:r>
            <a:br/>
            <a:r>
              <a:t>story_id: HL-01</a:t>
            </a:r>
            <a:br/>
            <a:r>
              <a:t>review_owner: human creator</a:t>
            </a:r>
            <a:br/>
            <a:r>
              <a:t>accept_if: each act turn changes goal, cost or available options</a:t>
            </a:r>
          </a:p>
        </p:txBody>
      </p:sp>
    </p:spTree>
  </p:cSld>
  <p:clrMapOvr>
    <a:masterClrMapping/>
  </p:clrMapOvr>
  <p:transition spd="fast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Three-act turning-point model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83080"/>
            <a:ext cx="5230368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83080"/>
            <a:ext cx="91440" cy="416052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47672"/>
            <a:ext cx="477316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95728"/>
            <a:ext cx="4773168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episodic events without escalation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07608" y="1783080"/>
            <a:ext cx="5669280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07608" y="1783080"/>
            <a:ext cx="91440" cy="41605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947672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REVIEW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2395728"/>
            <a:ext cx="5212080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Check causal beat ratio.</a:t>
            </a:r>
            <a:br/>
            <a:r>
              <a:t>Record source, owner and outcome.</a:t>
            </a:r>
            <a:br/>
            <a:r>
              <a:t>Return to the producing agent when the contract fails.</a:t>
            </a:r>
          </a:p>
        </p:txBody>
      </p:sp>
    </p:spTree>
  </p:cSld>
  <p:clrMapOvr>
    <a:masterClrMapping/>
  </p:clrMapOvr>
  <p:transition spd="fast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Three-act turning-point model ·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story spine and target duration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beat sheet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causal beat ratio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212080"/>
            <a:ext cx="11201400" cy="841248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41324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82840"/>
                </a:solidFill>
                <a:latin typeface="Aptos"/>
              </a:defRPr>
            </a:pPr>
            <a:r>
              <a:t>Evidence record: story_id · scene_id · artifact_version · source_ids · owner · approval_status</a:t>
            </a:r>
          </a:p>
        </p:txBody>
      </p:sp>
    </p:spTree>
  </p:cSld>
  <p:clrMapOvr>
    <a:masterClrMapping/>
  </p:clrMapOvr>
  <p:transition spd="fast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Five-beat short-form arc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single objective and platform duration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map hook, trigger, escalation, crisis and payoff to timed beats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short-form beat map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each beat changes audience knowledge or emotion</a:t>
            </a:r>
          </a:p>
        </p:txBody>
      </p:sp>
    </p:spTree>
  </p:cSld>
  <p:clrMapOvr>
    <a:masterClrMapping/>
  </p:clrMapOvr>
  <p:transition spd="fast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Five-beat short-form arc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331720"/>
            <a:ext cx="10561320" cy="54864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7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BRIEF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single objective and platform duration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4441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4441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4149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95777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map hook, trigger, escalation, crisis and payoff to timed beats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04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04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2754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DRAFT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18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short-form beat map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1651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1651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359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787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beat function coverage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025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025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9964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DECIDE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539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each beat changes audience knowledge or emotion</a:t>
            </a:r>
          </a:p>
        </p:txBody>
      </p:sp>
    </p:spTree>
  </p:cSld>
  <p:clrMapOvr>
    <a:masterClrMapping/>
  </p:clrMapOvr>
  <p:transition spd="fast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Five-beat short-form arc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01  OBSERVE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montage without progression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9704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02  MEASURE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9704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beat function coverage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03  LOCATE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scene, line, frame or asset ID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04  CORRECT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map hook, trigger, escalation, crisis and payoff to timed beats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88536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9704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05  RETEST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9704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same criterion and evidence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10144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1312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06  DISPOSITION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PASS · REVISE · BLOCK</a:t>
            </a:r>
          </a:p>
        </p:txBody>
      </p:sp>
    </p:spTree>
  </p:cSld>
  <p:clrMapOvr>
    <a:masterClrMapping/>
  </p:clrMapOvr>
  <p:transition spd="fast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Five-beat short-form arc ·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22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331720"/>
            <a:ext cx="10561320" cy="54864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7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story and scene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4441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4441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4149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95777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single objective and platform duration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04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04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2754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18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short-form beat map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1651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1651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359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787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beat function coverage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025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025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9964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OWNER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539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human approval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5212080"/>
            <a:ext cx="11201400" cy="841248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41324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82840"/>
                </a:solidFill>
                <a:latin typeface="Aptos"/>
              </a:defRPr>
            </a:pPr>
            <a:r>
              <a:t>Evidence record: story_id · scene_id · artifact_version · source_ids · owner · approval_status</a:t>
            </a:r>
          </a:p>
        </p:txBody>
      </p:sp>
    </p:spTree>
  </p:cSld>
  <p:clrMapOvr>
    <a:masterClrMapping/>
  </p:clrMapOvr>
  <p:transition spd="fast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Character want, need and misbelief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premise and character seed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separate external objective, internal need and belief under pressure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character arc card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climax forces a choice between want and need</a:t>
            </a:r>
          </a:p>
        </p:txBody>
      </p:sp>
    </p:spTree>
  </p:cSld>
  <p:clrMapOvr>
    <a:masterClrMapping/>
  </p:clrMapOvr>
  <p:transition spd="fast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Character want, need and misbelief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01  SCENE 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HL-S01 · version 02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9704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02  STORY 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9704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premise and character seed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03  CREATIVE MOVE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separate external objective, internal need and belief under pressure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04  ARTIFACT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character arc card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88536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9704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05  HUMAN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9704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decision-to-arc alignment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10144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1312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06  ACCEPT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climax forces a choice between want and need</a:t>
            </a:r>
          </a:p>
        </p:txBody>
      </p:sp>
    </p:spTree>
  </p:cSld>
  <p:clrMapOvr>
    <a:masterClrMapping/>
  </p:clrMapOvr>
  <p:transition spd="fast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Character want, need and misbelief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83080"/>
            <a:ext cx="5230368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83080"/>
            <a:ext cx="91440" cy="416052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47672"/>
            <a:ext cx="477316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95728"/>
            <a:ext cx="4773168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traits without decisions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07608" y="1783080"/>
            <a:ext cx="5669280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07608" y="1783080"/>
            <a:ext cx="91440" cy="41605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947672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REVIEW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2395728"/>
            <a:ext cx="5212080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Check decision-to-arc alignment.</a:t>
            </a:r>
            <a:br/>
            <a:r>
              <a:t>Record source, owner and outcome.</a:t>
            </a:r>
            <a:br/>
            <a:r>
              <a:t>Return to the producing agent when the contract fails.</a:t>
            </a:r>
          </a:p>
        </p:txBody>
      </p:sp>
    </p:spTree>
  </p:cSld>
  <p:clrMapOvr>
    <a:masterClrMapping/>
  </p:clrMapOvr>
  <p:transition spd="fast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Character want, need and misbelief ·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premise and character seed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character arc card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decision-to-arc alignment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212080"/>
            <a:ext cx="11201400" cy="841248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41324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82840"/>
                </a:solidFill>
                <a:latin typeface="Aptos"/>
              </a:defRPr>
            </a:pPr>
            <a:r>
              <a:t>Evidence record: story_id · scene_id · artifact_version · source_ids · owner · approval_status</a:t>
            </a:r>
          </a:p>
        </p:txBody>
      </p:sp>
    </p:spTree>
  </p:cSld>
  <p:clrMapOvr>
    <a:masterClrMapping/>
  </p:clrMapOvr>
  <p:transition spd="fast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Character relationship engine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two character arc cards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define power, dependence, conflict, history and change across scenes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relationship matrix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each relationship beat must alter trust or leverage</a:t>
            </a:r>
          </a:p>
        </p:txBody>
      </p:sp>
    </p:spTree>
  </p:cSld>
  <p:clrMapOvr>
    <a:masterClrMapping/>
  </p:clrMapOvr>
  <p:transition spd="fast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Character relationship engine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28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46504"/>
            <a:ext cx="519379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46504"/>
            <a:ext cx="91440" cy="42976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11095"/>
            <a:ext cx="473659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HARBOUR LIGHTS · STORY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59152"/>
            <a:ext cx="473659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0">
                <a:solidFill>
                  <a:srgbClr val="1D2A37"/>
                </a:solidFill>
                <a:latin typeface="Aptos"/>
              </a:defRPr>
            </a:pPr>
            <a:r>
              <a:t>Format: 90-second human-interest short</a:t>
            </a:r>
            <a:br/>
            <a:r>
              <a:t>Audience: Singapore adult learners</a:t>
            </a:r>
            <a:br/>
            <a:r>
              <a:t>Input: two character arc cards</a:t>
            </a:r>
            <a:br/>
            <a:r>
              <a:t>Creative operation: define power, dependence, conflict, history and change across scenes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0176" y="1746504"/>
            <a:ext cx="569671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0176" y="1746504"/>
            <a:ext cx="91440" cy="42976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08776" y="1911095"/>
            <a:ext cx="523951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STRUCTURED ARTIFACT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2359152"/>
            <a:ext cx="523951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0">
                <a:solidFill>
                  <a:srgbClr val="1D2A37"/>
                </a:solidFill>
                <a:latin typeface="Aptos"/>
              </a:defRPr>
            </a:pPr>
            <a:r>
              <a:t>artifact_type: relationship matrix</a:t>
            </a:r>
            <a:br/>
            <a:r>
              <a:t>story_id: HL-01</a:t>
            </a:r>
            <a:br/>
            <a:r>
              <a:t>review_owner: human creator</a:t>
            </a:r>
            <a:br/>
            <a:r>
              <a:t>accept_if: each relationship beat must alter trust or leverage</a:t>
            </a:r>
          </a:p>
        </p:txBody>
      </p:sp>
    </p:spTree>
  </p:cSld>
  <p:clrMapOvr>
    <a:masterClrMapping/>
  </p:clrMapOvr>
  <p:transition spd="fast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Character relationship engine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29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01  OBSERVE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dialogue that repeats exposition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9704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02  MEASURE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9704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relationship-state changes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03  LOCATE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scene, line, frame or asset ID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04  CORRECT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define power, dependence, conflict, history and change across scenes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88536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9704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05  RETEST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9704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same criterion and evidence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10144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1312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06  DISPOSITION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PASS · REVISE · BLOCK</a:t>
            </a:r>
          </a:p>
        </p:txBody>
      </p:sp>
    </p:spTree>
  </p:cSld>
  <p:clrMapOvr>
    <a:masterClrMapping/>
  </p:clrMapOvr>
  <p:transition spd="fast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600" b="1">
                <a:solidFill>
                  <a:srgbClr val="182840"/>
                </a:solidFill>
                <a:latin typeface="Aptos"/>
              </a:defRPr>
            </a:pPr>
            <a:r>
              <a:t>Character relationship engine · illustrative decision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30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" y="1755648"/>
          <a:ext cx="6583680" cy="427939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589520" y="1883664"/>
            <a:ext cx="4041648" cy="3986784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89520" y="1883664"/>
            <a:ext cx="91440" cy="3986784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2048256"/>
            <a:ext cx="358444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CLASSROOM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2496312"/>
            <a:ext cx="3584448" cy="32735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Illustrative scores only.</a:t>
            </a:r>
            <a:br/>
            <a:r>
              <a:t>Metric: relationship-state changes</a:t>
            </a:r>
            <a:br/>
            <a:r>
              <a:t>Compare against a pre-agreed release threshold; inspect evidence before approval.</a:t>
            </a:r>
          </a:p>
        </p:txBody>
      </p:sp>
    </p:spTree>
  </p:cSld>
  <p:clrMapOvr>
    <a:masterClrMapping/>
  </p:clrMapOvr>
  <p:transition spd="fast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World rule ledger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31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genre promise and setting constraints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record physical, social, economic and cultural rules with consequences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world bible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a rule is usable only when violation has a cost</a:t>
            </a:r>
          </a:p>
        </p:txBody>
      </p:sp>
    </p:spTree>
  </p:cSld>
  <p:clrMapOvr>
    <a:masterClrMapping/>
  </p:clrMapOvr>
  <p:transition spd="fast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World rule ledger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32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331720"/>
            <a:ext cx="10561320" cy="54864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7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BRIEF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genre promise and setting constraints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4441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4441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4149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95777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record physical, social, economic and cultural rules with consequences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04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04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2754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DRAFT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18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world bible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1651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1651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359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787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rule-to-consequence coverage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025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025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9964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DECIDE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539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a rule is usable only when violation has a cost</a:t>
            </a:r>
          </a:p>
        </p:txBody>
      </p:sp>
    </p:spTree>
  </p:cSld>
  <p:clrMapOvr>
    <a:masterClrMapping/>
  </p:clrMapOvr>
  <p:transition spd="fast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World rule ledger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33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83080"/>
            <a:ext cx="5230368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83080"/>
            <a:ext cx="91440" cy="416052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47672"/>
            <a:ext cx="477316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95728"/>
            <a:ext cx="4773168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decorative lore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07608" y="1783080"/>
            <a:ext cx="5669280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07608" y="1783080"/>
            <a:ext cx="91440" cy="41605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947672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REVIEW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2395728"/>
            <a:ext cx="5212080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Check rule-to-consequence coverage.</a:t>
            </a:r>
            <a:br/>
            <a:r>
              <a:t>Record source, owner and outcome.</a:t>
            </a:r>
            <a:br/>
            <a:r>
              <a:t>Return to the producing agent when the contract fails.</a:t>
            </a:r>
          </a:p>
        </p:txBody>
      </p:sp>
    </p:spTree>
  </p:cSld>
  <p:clrMapOvr>
    <a:masterClrMapping/>
  </p:clrMapOvr>
  <p:transition spd="fast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World rule ledger ·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34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genre promise and setting constraints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world bible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rule-to-consequence coverage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212080"/>
            <a:ext cx="11201400" cy="841248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41324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82840"/>
                </a:solidFill>
                <a:latin typeface="Aptos"/>
              </a:defRPr>
            </a:pPr>
            <a:r>
              <a:t>Evidence record: story_id · scene_id · artifact_version · source_ids · owner · approval_status</a:t>
            </a:r>
          </a:p>
        </p:txBody>
      </p:sp>
    </p:spTree>
  </p:cSld>
  <p:clrMapOvr>
    <a:masterClrMapping/>
  </p:clrMapOvr>
  <p:transition spd="fast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Scene objective-obstacle-turn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35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beat sheet and character state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encode objective, tactic, obstacle, turn and exit value for every scene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scene card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scene exits with changed value or information</a:t>
            </a:r>
          </a:p>
        </p:txBody>
      </p:sp>
    </p:spTree>
  </p:cSld>
  <p:clrMapOvr>
    <a:masterClrMapping/>
  </p:clrMapOvr>
  <p:transition spd="fast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Scene objective-obstacle-turn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36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01  SCENE 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HL-S01 · version 02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9704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02  STORY 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9704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beat sheet and character state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03  CREATIVE MOVE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encode objective, tactic, obstacle, turn and exit value for every scene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04  ARTIFACT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scene card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88536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9704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05  HUMAN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9704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scene-change rate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10144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1312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06  ACCEPT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scene exits with changed value or information</a:t>
            </a:r>
          </a:p>
        </p:txBody>
      </p:sp>
    </p:spTree>
  </p:cSld>
  <p:clrMapOvr>
    <a:masterClrMapping/>
  </p:clrMapOvr>
  <p:transition spd="fast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Scene objective-obstacle-turn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37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01  OBSERVE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talking scene with no turn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9704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02  MEASURE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9704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scene-change rate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03  LOCATE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scene, line, frame or asset ID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04  CORRECT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encode objective, tactic, obstacle, turn and exit value for every scene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88536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9704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05  RETEST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9704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same criterion and evidence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10144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1312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06  DISPOSITION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PASS · REVISE · BLOCK</a:t>
            </a:r>
          </a:p>
        </p:txBody>
      </p:sp>
    </p:spTree>
  </p:cSld>
  <p:clrMapOvr>
    <a:masterClrMapping/>
  </p:clrMapOvr>
  <p:transition spd="fast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Scene objective-obstacle-turn ·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38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331720"/>
            <a:ext cx="10561320" cy="54864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7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story and scene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4441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4441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4149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95777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beat sheet and character state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04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04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2754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18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scene card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1651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1651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359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787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scene-change rate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025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025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9964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OWNER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539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human approval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5212080"/>
            <a:ext cx="11201400" cy="841248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41324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82840"/>
                </a:solidFill>
                <a:latin typeface="Aptos"/>
              </a:defRPr>
            </a:pPr>
            <a:r>
              <a:t>Evidence record: story_id · scene_id · artifact_version · source_ids · owner · approval_status</a:t>
            </a:r>
          </a:p>
        </p:txBody>
      </p:sp>
    </p:spTree>
  </p:cSld>
  <p:clrMapOvr>
    <a:masterClrMapping/>
  </p:clrMapOvr>
  <p:transition spd="fast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Scenario iteration tree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39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approved premise and constraints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vary one narrative variable per branch and compare consequences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option matrix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select by audience fit, originality and feasibility</a:t>
            </a:r>
          </a:p>
        </p:txBody>
      </p:sp>
    </p:spTree>
  </p:cSld>
  <p:clrMapOvr>
    <a:masterClrMapping/>
  </p:clrMapOvr>
  <p:transition spd="fast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Scenario iteration tree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40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46504"/>
            <a:ext cx="519379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46504"/>
            <a:ext cx="91440" cy="42976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11095"/>
            <a:ext cx="473659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HARBOUR LIGHTS · STORY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59152"/>
            <a:ext cx="473659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0">
                <a:solidFill>
                  <a:srgbClr val="1D2A37"/>
                </a:solidFill>
                <a:latin typeface="Aptos"/>
              </a:defRPr>
            </a:pPr>
            <a:r>
              <a:t>Format: 90-second human-interest short</a:t>
            </a:r>
            <a:br/>
            <a:r>
              <a:t>Audience: Singapore adult learners</a:t>
            </a:r>
            <a:br/>
            <a:r>
              <a:t>Input: approved premise and constraints</a:t>
            </a:r>
            <a:br/>
            <a:r>
              <a:t>Creative operation: vary one narrative variable per branch and compare consequences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0176" y="1746504"/>
            <a:ext cx="569671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0176" y="1746504"/>
            <a:ext cx="91440" cy="42976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08776" y="1911095"/>
            <a:ext cx="523951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STRUCTURED ARTIFACT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2359152"/>
            <a:ext cx="523951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0">
                <a:solidFill>
                  <a:srgbClr val="1D2A37"/>
                </a:solidFill>
                <a:latin typeface="Aptos"/>
              </a:defRPr>
            </a:pPr>
            <a:r>
              <a:t>artifact_type: option matrix</a:t>
            </a:r>
            <a:br/>
            <a:r>
              <a:t>story_id: HL-01</a:t>
            </a:r>
            <a:br/>
            <a:r>
              <a:t>review_owner: human creator</a:t>
            </a:r>
            <a:br/>
            <a:r>
              <a:t>accept_if: select by audience fit, originality and feasibility</a:t>
            </a:r>
          </a:p>
        </p:txBody>
      </p:sp>
    </p:spTree>
  </p:cSld>
  <p:clrMapOvr>
    <a:masterClrMapping/>
  </p:clrMapOvr>
  <p:transition spd="fast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Scenario iteration tree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41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83080"/>
            <a:ext cx="5230368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83080"/>
            <a:ext cx="91440" cy="416052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47672"/>
            <a:ext cx="477316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95728"/>
            <a:ext cx="4773168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random novelty without brief fit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07608" y="1783080"/>
            <a:ext cx="5669280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07608" y="1783080"/>
            <a:ext cx="91440" cy="41605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947672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REVIEW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2395728"/>
            <a:ext cx="5212080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Check controlled-variable score.</a:t>
            </a:r>
            <a:br/>
            <a:r>
              <a:t>Record source, owner and outcome.</a:t>
            </a:r>
            <a:br/>
            <a:r>
              <a:t>Return to the producing agent when the contract fails.</a:t>
            </a:r>
          </a:p>
        </p:txBody>
      </p:sp>
    </p:spTree>
  </p:cSld>
  <p:clrMapOvr>
    <a:masterClrMapping/>
  </p:clrMapOvr>
  <p:transition spd="fast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Scenario iteration tree ·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42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approved premise and constraints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option matrix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controlled-variable score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212080"/>
            <a:ext cx="11201400" cy="841248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41324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82840"/>
                </a:solidFill>
                <a:latin typeface="Aptos"/>
              </a:defRPr>
            </a:pPr>
            <a:r>
              <a:t>Evidence record: story_id · scene_id · artifact_version · source_ids · owner · approval_status</a:t>
            </a:r>
          </a:p>
        </p:txBody>
      </p:sp>
    </p:spTree>
  </p:cSld>
  <p:clrMapOvr>
    <a:masterClrMapping/>
  </p:clrMapOvr>
  <p:transition spd="fast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Human creative authorship record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43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AI suggestions and creator decisions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log selection, rejection, recombination and original contribution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creative decision log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human must make consequential expressive choices</a:t>
            </a:r>
          </a:p>
        </p:txBody>
      </p:sp>
    </p:spTree>
  </p:cSld>
  <p:clrMapOvr>
    <a:masterClrMapping/>
  </p:clrMapOvr>
  <p:transition spd="fast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Human creative authorship record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44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331720"/>
            <a:ext cx="10561320" cy="54864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7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BRIEF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AI suggestions and creator decisions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4441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4441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4149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95777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log selection, rejection, recombination and original contribution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04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04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2754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DRAFT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18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creative decision log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1651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1651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359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787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documented human contribution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025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025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9964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DECIDE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539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human must make consequential expressive choices</a:t>
            </a:r>
          </a:p>
        </p:txBody>
      </p:sp>
    </p:spTree>
  </p:cSld>
  <p:clrMapOvr>
    <a:masterClrMapping/>
  </p:clrMapOvr>
  <p:transition spd="fast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Human creative authorship record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45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01  OBSERVE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unmodified model output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9704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02  MEASURE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9704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documented human contribution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03  LOCATE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scene, line, frame or asset ID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04  CORRECT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log selection, rejection, recombination and original contribution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88536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9704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05  RETEST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9704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same criterion and evidence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10144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1312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06  DISPOSITION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PASS · REVISE · BLOCK</a:t>
            </a:r>
          </a:p>
        </p:txBody>
      </p:sp>
    </p:spTree>
  </p:cSld>
  <p:clrMapOvr>
    <a:masterClrMapping/>
  </p:clrMapOvr>
  <p:transition spd="fast">
    <p:fade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1 · MECHANISM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600" b="1">
                <a:solidFill>
                  <a:srgbClr val="182840"/>
                </a:solidFill>
                <a:latin typeface="Aptos"/>
              </a:defRPr>
            </a:pPr>
            <a:r>
              <a:t>Human creative authorship record · illustrative decision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46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" y="1755648"/>
          <a:ext cx="6583680" cy="427939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589520" y="1883664"/>
            <a:ext cx="4041648" cy="3986784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89520" y="1883664"/>
            <a:ext cx="91440" cy="3986784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2048256"/>
            <a:ext cx="358444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CLASSROOM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2496312"/>
            <a:ext cx="3584448" cy="32735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Illustrative scores only.</a:t>
            </a:r>
            <a:br/>
            <a:r>
              <a:t>Metric: documented human contribution</a:t>
            </a:r>
            <a:br/>
            <a:r>
              <a:t>Compare against a pre-agreed release threshold; inspect evidence before approval.</a:t>
            </a:r>
          </a:p>
        </p:txBody>
      </p:sp>
    </p:spTree>
  </p:cSld>
  <p:clrMapOvr>
    <a:masterClrMapping/>
  </p:clrMapOvr>
  <p:transition spd="fast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PRACTICE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Topic 1 · lab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47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LAB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Premise, story spine and beat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LAB 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Character arcs, relationships and world bible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</p:spTree>
  </p:cSld>
  <p:clrMapOvr>
    <a:masterClrMapping/>
  </p:clrMapOvr>
  <p:transition spd="fast">
    <p:push dir="r"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12648"/>
            <a:ext cx="11109960" cy="10241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600" b="1">
                <a:solidFill>
                  <a:srgbClr val="182840"/>
                </a:solidFill>
                <a:latin typeface="Aptos"/>
              </a:defRPr>
            </a:pPr>
            <a:r>
              <a:rPr sz="2300"/>
              <a:t>Topic 2: Prompt contracts, storyboard grammar and visual continuity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66420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48</a:t>
            </a:r>
          </a:p>
        </p:txBody>
      </p:sp>
      <p:pic>
        <p:nvPicPr>
          <p:cNvPr id="9" name="Picture 8" descr="story-architecture-de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856231"/>
            <a:ext cx="6675120" cy="424281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98079" y="1856231"/>
            <a:ext cx="4187952" cy="4242816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2304288"/>
            <a:ext cx="3547872" cy="2651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1">
                <a:solidFill>
                  <a:srgbClr val="182840"/>
                </a:solidFill>
                <a:latin typeface="Aptos"/>
              </a:defRPr>
            </a:pPr>
            <a:r>
              <a:t>LO2: Identify effective prompt terms and narrative components to enhance AI-generated storyboards for visual storytelling.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5404104"/>
            <a:ext cx="356616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008B8B"/>
                </a:solidFill>
                <a:latin typeface="Aptos"/>
              </a:defRPr>
            </a:pPr>
            <a:r>
              <a:t>10 mechanisms · 2 labs</a:t>
            </a:r>
          </a:p>
        </p:txBody>
      </p:sp>
    </p:spTree>
  </p:cSld>
  <p:clrMapOvr>
    <a:masterClrMapping/>
  </p:clrMapOvr>
  <p:transition spd="fast">
    <p:push dir="r"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Prompt role and boundary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49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approved story bible and task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separate durable constraints, task input, references and output schema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prompt contract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untrusted text cannot override creative or safety constraints</a:t>
            </a:r>
          </a:p>
        </p:txBody>
      </p:sp>
    </p:spTree>
  </p:cSld>
  <p:clrMapOvr>
    <a:masterClrMapping/>
  </p:clrMapOvr>
  <p:transition spd="fast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Prompt role and boundary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50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331720"/>
            <a:ext cx="10561320" cy="54864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7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BRIEF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approved story bible and task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4441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4441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4149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95777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separate durable constraints, task input, references and output schema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04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04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2754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DRAFT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18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prompt contract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1651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1651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359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787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role-boundary violations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025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025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9964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DECIDE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539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untrusted text cannot override creative or safety constraints</a:t>
            </a:r>
          </a:p>
        </p:txBody>
      </p:sp>
    </p:spTree>
  </p:cSld>
  <p:clrMapOvr>
    <a:masterClrMapping/>
  </p:clrMapOvr>
  <p:transition spd="fast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Prompt role and boundary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51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83080"/>
            <a:ext cx="5230368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83080"/>
            <a:ext cx="91440" cy="416052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47672"/>
            <a:ext cx="477316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95728"/>
            <a:ext cx="4773168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prompt injection from references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07608" y="1783080"/>
            <a:ext cx="5669280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07608" y="1783080"/>
            <a:ext cx="91440" cy="41605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947672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REVIEW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2395728"/>
            <a:ext cx="5212080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Check role-boundary violations.</a:t>
            </a:r>
            <a:br/>
            <a:r>
              <a:t>Record source, owner and outcome.</a:t>
            </a:r>
            <a:br/>
            <a:r>
              <a:t>Return to the producing agent when the contract fails.</a:t>
            </a:r>
          </a:p>
        </p:txBody>
      </p:sp>
    </p:spTree>
  </p:cSld>
  <p:clrMapOvr>
    <a:masterClrMapping/>
  </p:clrMapOvr>
  <p:transition spd="fast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Prompt role and boundary ·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52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approved story bible and task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prompt contract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role-boundary violations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212080"/>
            <a:ext cx="11201400" cy="841248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41324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82840"/>
                </a:solidFill>
                <a:latin typeface="Aptos"/>
              </a:defRPr>
            </a:pPr>
            <a:r>
              <a:t>Evidence record: story_id · scene_id · artifact_version · source_ids · owner · approval_status</a:t>
            </a:r>
          </a:p>
        </p:txBody>
      </p:sp>
    </p:spTree>
  </p:cSld>
  <p:clrMapOvr>
    <a:masterClrMapping/>
  </p:clrMapOvr>
  <p:transition spd="fast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Narrative constraint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53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character, world, tone and audience rules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rank hard continuity constraints above optional style preferences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constraint ledger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reject output that violates a hard rule</a:t>
            </a:r>
          </a:p>
        </p:txBody>
      </p:sp>
    </p:spTree>
  </p:cSld>
  <p:clrMapOvr>
    <a:masterClrMapping/>
  </p:clrMapOvr>
  <p:transition spd="fast">
    <p:fade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Narrative constraint stack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54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01  SCENE 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HL-S01 · version 02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9704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02  STORY 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9704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character, world, tone and audience rules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03  CREATIVE MOVE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rank hard continuity constraints above optional style preferences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04  ARTIFACT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constraint ledger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88536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9704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05  HUMAN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9704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hard-rule pass rate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10144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1312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06  ACCEPT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reject output that violates a hard rule</a:t>
            </a:r>
          </a:p>
        </p:txBody>
      </p:sp>
    </p:spTree>
  </p:cSld>
  <p:clrMapOvr>
    <a:masterClrMapping/>
  </p:clrMapOvr>
  <p:transition spd="fast">
    <p:fade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Narrative constraint stack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55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01  OBSERVE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contradictory character or setting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9704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02  MEASURE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9704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hard-rule pass rate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03  LOCATE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scene, line, frame or asset ID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04  CORRECT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rank hard continuity constraints above optional style preferences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88536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9704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05  RETEST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9704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same criterion and evidence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10144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1312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06  DISPOSITION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PASS · REVISE · BLOCK</a:t>
            </a:r>
          </a:p>
        </p:txBody>
      </p:sp>
    </p:spTree>
  </p:cSld>
  <p:clrMapOvr>
    <a:masterClrMapping/>
  </p:clrMapOvr>
  <p:transition spd="fast">
    <p:fade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Narrative constraint stack · illustrative decision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56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" y="1755648"/>
          <a:ext cx="6583680" cy="427939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589520" y="1883664"/>
            <a:ext cx="4041648" cy="3986784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89520" y="1883664"/>
            <a:ext cx="91440" cy="3986784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2048256"/>
            <a:ext cx="358444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CLASSROOM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2496312"/>
            <a:ext cx="3584448" cy="32735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Illustrative scores only.</a:t>
            </a:r>
            <a:br/>
            <a:r>
              <a:t>Metric: hard-rule pass rate</a:t>
            </a:r>
            <a:br/>
            <a:r>
              <a:t>Compare against a pre-agreed release threshold; inspect evidence before approval.</a:t>
            </a:r>
          </a:p>
        </p:txBody>
      </p:sp>
    </p:spTree>
  </p:cSld>
  <p:clrMapOvr>
    <a:masterClrMapping/>
  </p:clrMapOvr>
  <p:transition spd="fast">
    <p:fade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Few-shot scene imitation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57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original example scenes and target schema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demonstrate format and pacing without copying protected expression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example pack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examples teach structure, not distinctive wording</a:t>
            </a:r>
          </a:p>
        </p:txBody>
      </p:sp>
    </p:spTree>
  </p:cSld>
  <p:clrMapOvr>
    <a:masterClrMapping/>
  </p:clrMapOvr>
  <p:transition spd="fast">
    <p:fade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Few-shot scene imitation control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58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46504"/>
            <a:ext cx="519379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46504"/>
            <a:ext cx="91440" cy="42976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11095"/>
            <a:ext cx="473659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HARBOUR LIGHTS · STORY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59152"/>
            <a:ext cx="473659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0">
                <a:solidFill>
                  <a:srgbClr val="1D2A37"/>
                </a:solidFill>
                <a:latin typeface="Aptos"/>
              </a:defRPr>
            </a:pPr>
            <a:r>
              <a:t>Format: 90-second human-interest short</a:t>
            </a:r>
            <a:br/>
            <a:r>
              <a:t>Audience: Singapore adult learners</a:t>
            </a:r>
            <a:br/>
            <a:r>
              <a:t>Input: original example scenes and target schema</a:t>
            </a:r>
            <a:br/>
            <a:r>
              <a:t>Creative operation: demonstrate format and pacing without copying protected expression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0176" y="1746504"/>
            <a:ext cx="569671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0176" y="1746504"/>
            <a:ext cx="91440" cy="42976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08776" y="1911095"/>
            <a:ext cx="523951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STRUCTURED ARTIFACT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2359152"/>
            <a:ext cx="523951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0">
                <a:solidFill>
                  <a:srgbClr val="1D2A37"/>
                </a:solidFill>
                <a:latin typeface="Aptos"/>
              </a:defRPr>
            </a:pPr>
            <a:r>
              <a:t>artifact_type: example pack</a:t>
            </a:r>
            <a:br/>
            <a:r>
              <a:t>story_id: HL-01</a:t>
            </a:r>
            <a:br/>
            <a:r>
              <a:t>review_owner: human creator</a:t>
            </a:r>
            <a:br/>
            <a:r>
              <a:t>accept_if: examples teach structure, not distinctive wording</a:t>
            </a:r>
          </a:p>
        </p:txBody>
      </p:sp>
    </p:spTree>
  </p:cSld>
  <p:clrMapOvr>
    <a:masterClrMapping/>
  </p:clrMapOvr>
  <p:transition spd="fast">
    <p:fade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Few-shot scene imitation control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59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83080"/>
            <a:ext cx="5230368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83080"/>
            <a:ext cx="91440" cy="416052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47672"/>
            <a:ext cx="477316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95728"/>
            <a:ext cx="4773168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near-copy reproduction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07608" y="1783080"/>
            <a:ext cx="5669280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07608" y="1783080"/>
            <a:ext cx="91440" cy="41605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947672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REVIEW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2395728"/>
            <a:ext cx="5212080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Check phrase-overlap review.</a:t>
            </a:r>
            <a:br/>
            <a:r>
              <a:t>Record source, owner and outcome.</a:t>
            </a:r>
            <a:br/>
            <a:r>
              <a:t>Return to the producing agent when the contract fails.</a:t>
            </a:r>
          </a:p>
        </p:txBody>
      </p:sp>
    </p:spTree>
  </p:cSld>
  <p:clrMapOvr>
    <a:masterClrMapping/>
  </p:clrMapOvr>
  <p:transition spd="fast">
    <p:fade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Few-shot scene imitation control ·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60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original example scenes and target schema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example pack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phrase-overlap review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212080"/>
            <a:ext cx="11201400" cy="841248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41324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82840"/>
                </a:solidFill>
                <a:latin typeface="Aptos"/>
              </a:defRPr>
            </a:pPr>
            <a:r>
              <a:t>Evidence record: story_id · scene_id · artifact_version · source_ids · owner · approval_status</a:t>
            </a:r>
          </a:p>
        </p:txBody>
      </p:sp>
    </p:spTree>
  </p:cSld>
  <p:clrMapOvr>
    <a:masterClrMapping/>
  </p:clrMapOvr>
  <p:transition spd="fast">
    <p:fade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Storyboard shot grammar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61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scene card and emotional intention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map shot size, angle, movement, duration and transition to story function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shot list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camera choice must reveal information or emotion</a:t>
            </a:r>
          </a:p>
        </p:txBody>
      </p:sp>
    </p:spTree>
  </p:cSld>
  <p:clrMapOvr>
    <a:masterClrMapping/>
  </p:clrMapOvr>
  <p:transition spd="fast">
    <p:fade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Storyboard shot grammar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62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331720"/>
            <a:ext cx="10561320" cy="54864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7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BRIEF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scene card and emotional intention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4441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4441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4149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95777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map shot size, angle, movement, duration and transition to story function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04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04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2754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DRAFT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18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shot list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1651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1651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359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787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motivated-shot share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025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025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9964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DECIDE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539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camera choice must reveal information or emotion</a:t>
            </a:r>
          </a:p>
        </p:txBody>
      </p:sp>
    </p:spTree>
  </p:cSld>
  <p:clrMapOvr>
    <a:masterClrMapping/>
  </p:clrMapOvr>
  <p:transition spd="fast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Storyboard shot grammar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63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01  OBSERVE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random cinematic adjectives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9704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02  MEASURE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9704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motivated-shot share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03  LOCATE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scene, line, frame or asset ID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04  CORRECT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map shot size, angle, movement, duration and transition to story function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88536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9704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05  RETEST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9704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same criterion and evidence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10144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1312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06  DISPOSITION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PASS · REVISE · BLOCK</a:t>
            </a:r>
          </a:p>
        </p:txBody>
      </p:sp>
    </p:spTree>
  </p:cSld>
  <p:clrMapOvr>
    <a:masterClrMapping/>
  </p:clrMapOvr>
  <p:transition spd="fast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Storyboard shot grammar ·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64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331720"/>
            <a:ext cx="10561320" cy="54864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7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story and scene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4441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4441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4149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95777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scene card and emotional intention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04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04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2754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18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shot list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1651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1651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359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787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motivated-shot share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025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025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9964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OWNER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539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human approval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5212080"/>
            <a:ext cx="11201400" cy="841248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41324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82840"/>
                </a:solidFill>
                <a:latin typeface="Aptos"/>
              </a:defRPr>
            </a:pPr>
            <a:r>
              <a:t>Evidence record: story_id · scene_id · artifact_version · source_ids · owner · approval_status</a:t>
            </a:r>
          </a:p>
        </p:txBody>
      </p:sp>
    </p:spTree>
  </p:cSld>
  <p:clrMapOvr>
    <a:masterClrMapping/>
  </p:clrMapOvr>
  <p:transition spd="fast">
    <p:fade/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Continuity state ledger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65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approved scenes and character bible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track wardrobe, props, geography, time, eyeline and emotional state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continuity sheet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next shot inherits all unchanged states</a:t>
            </a:r>
          </a:p>
        </p:txBody>
      </p:sp>
    </p:spTree>
  </p:cSld>
  <p:clrMapOvr>
    <a:masterClrMapping/>
  </p:clrMapOvr>
  <p:transition spd="fast">
    <p:fade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Continuity state ledger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66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01  SCENE 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HL-S01 · version 02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9704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02  STORY 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9704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approved scenes and character bible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03  CREATIVE MOVE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track wardrobe, props, geography, time, eyeline and emotional state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04  ARTIFACT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continuity sheet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88536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9704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05  HUMAN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9704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state mismatch count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10144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1312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06  ACCEPT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next shot inherits all unchanged states</a:t>
            </a:r>
          </a:p>
        </p:txBody>
      </p:sp>
    </p:spTree>
  </p:cSld>
  <p:clrMapOvr>
    <a:masterClrMapping/>
  </p:clrMapOvr>
  <p:transition spd="fast">
    <p:fade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Continuity state ledger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67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83080"/>
            <a:ext cx="5230368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83080"/>
            <a:ext cx="91440" cy="416052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47672"/>
            <a:ext cx="477316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95728"/>
            <a:ext cx="4773168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visual discontinuity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07608" y="1783080"/>
            <a:ext cx="5669280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07608" y="1783080"/>
            <a:ext cx="91440" cy="41605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947672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REVIEW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2395728"/>
            <a:ext cx="5212080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Check state mismatch count.</a:t>
            </a:r>
            <a:br/>
            <a:r>
              <a:t>Record source, owner and outcome.</a:t>
            </a:r>
            <a:br/>
            <a:r>
              <a:t>Return to the producing agent when the contract fails.</a:t>
            </a:r>
          </a:p>
        </p:txBody>
      </p:sp>
    </p:spTree>
  </p:cSld>
  <p:clrMapOvr>
    <a:masterClrMapping/>
  </p:clrMapOvr>
  <p:transition spd="fast">
    <p:fade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Continuity state ledger ·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68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approved scenes and character bible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continuity sheet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state mismatch count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212080"/>
            <a:ext cx="11201400" cy="841248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41324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82840"/>
                </a:solidFill>
                <a:latin typeface="Aptos"/>
              </a:defRPr>
            </a:pPr>
            <a:r>
              <a:t>Evidence record: story_id · scene_id · artifact_version · source_ids · owner · approval_status</a:t>
            </a:r>
          </a:p>
        </p:txBody>
      </p:sp>
    </p:spTree>
  </p:cSld>
  <p:clrMapOvr>
    <a:masterClrMapping/>
  </p:clrMapOvr>
  <p:transition spd="fast">
    <p:fade/>
  </p:transition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Image prompt anatomy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69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shot list and continuity state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specify subject, action, setting, composition, lens, light, palette and exclusions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visual prompt record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prompt must encode story function and continuity anchors</a:t>
            </a:r>
          </a:p>
        </p:txBody>
      </p:sp>
    </p:spTree>
  </p:cSld>
  <p:clrMapOvr>
    <a:masterClrMapping/>
  </p:clrMapOvr>
  <p:transition spd="fast">
    <p:fade/>
  </p:transition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Image prompt anatomy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70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46504"/>
            <a:ext cx="519379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46504"/>
            <a:ext cx="91440" cy="42976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11095"/>
            <a:ext cx="473659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HARBOUR LIGHTS · STORY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59152"/>
            <a:ext cx="473659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0">
                <a:solidFill>
                  <a:srgbClr val="1D2A37"/>
                </a:solidFill>
                <a:latin typeface="Aptos"/>
              </a:defRPr>
            </a:pPr>
            <a:r>
              <a:t>Format: 90-second human-interest short</a:t>
            </a:r>
            <a:br/>
            <a:r>
              <a:t>Audience: Singapore adult learners</a:t>
            </a:r>
            <a:br/>
            <a:r>
              <a:t>Input: shot list and continuity state</a:t>
            </a:r>
            <a:br/>
            <a:r>
              <a:t>Creative operation: specify subject, action, setting, composition, lens, light, palette and exclusions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0176" y="1746504"/>
            <a:ext cx="569671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0176" y="1746504"/>
            <a:ext cx="91440" cy="42976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08776" y="1911095"/>
            <a:ext cx="523951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STRUCTURED ARTIFACT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2359152"/>
            <a:ext cx="523951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0">
                <a:solidFill>
                  <a:srgbClr val="1D2A37"/>
                </a:solidFill>
                <a:latin typeface="Aptos"/>
              </a:defRPr>
            </a:pPr>
            <a:r>
              <a:t>artifact_type: visual prompt record</a:t>
            </a:r>
            <a:br/>
            <a:r>
              <a:t>story_id: HL-01</a:t>
            </a:r>
            <a:br/>
            <a:r>
              <a:t>review_owner: human creator</a:t>
            </a:r>
            <a:br/>
            <a:r>
              <a:t>accept_if: prompt must encode story function and continuity anchors</a:t>
            </a:r>
          </a:p>
        </p:txBody>
      </p:sp>
    </p:spTree>
  </p:cSld>
  <p:clrMapOvr>
    <a:masterClrMapping/>
  </p:clrMapOvr>
  <p:transition spd="fast">
    <p:fade/>
  </p:transition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Image prompt anatomy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71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01  OBSERVE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beautiful but unusable image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9704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02  MEASURE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9704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prompt field completeness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03  LOCATE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scene, line, frame or asset ID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04  CORRECT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specify subject, action, setting, composition, lens, light, palette and exclusions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88536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9704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05  RETEST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9704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same criterion and evidence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10144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1312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06  DISPOSITION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PASS · REVISE · BLOCK</a:t>
            </a:r>
          </a:p>
        </p:txBody>
      </p:sp>
    </p:spTree>
  </p:cSld>
  <p:clrMapOvr>
    <a:masterClrMapping/>
  </p:clrMapOvr>
  <p:transition spd="fast">
    <p:fade/>
  </p:transition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Image prompt anatomy · illustrative decision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72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" y="1755648"/>
          <a:ext cx="6583680" cy="427939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589520" y="1883664"/>
            <a:ext cx="4041648" cy="3986784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89520" y="1883664"/>
            <a:ext cx="91440" cy="3986784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2048256"/>
            <a:ext cx="358444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CLASSROOM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2496312"/>
            <a:ext cx="3584448" cy="32735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Illustrative scores only.</a:t>
            </a:r>
            <a:br/>
            <a:r>
              <a:t>Metric: prompt field completeness</a:t>
            </a:r>
            <a:br/>
            <a:r>
              <a:t>Compare against a pre-agreed release threshold; inspect evidence before approval.</a:t>
            </a:r>
          </a:p>
        </p:txBody>
      </p:sp>
    </p:spTree>
  </p:cSld>
  <p:clrMapOvr>
    <a:masterClrMapping/>
  </p:clrMapOvr>
  <p:transition spd="fast">
    <p:fade/>
  </p:transition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Reference image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73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owned or licensed references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label style, subject, composition and edit-target roles separately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reference manifest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do not imply permission from mere access</a:t>
            </a:r>
          </a:p>
        </p:txBody>
      </p:sp>
    </p:spTree>
  </p:cSld>
  <p:clrMapOvr>
    <a:masterClrMapping/>
  </p:clrMapOvr>
  <p:transition spd="fast">
    <p:fade/>
  </p:transition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Reference image control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74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331720"/>
            <a:ext cx="10561320" cy="54864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7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BRIEF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owned or licensed references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4441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4441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4149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95777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label style, subject, composition and edit-target roles separately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04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04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2754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DRAFT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18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reference manifest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1651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1651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359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787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rights-labelled reference rate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025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025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9964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DECIDE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539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do not imply permission from mere access</a:t>
            </a:r>
          </a:p>
        </p:txBody>
      </p:sp>
    </p:spTree>
  </p:cSld>
  <p:clrMapOvr>
    <a:masterClrMapping/>
  </p:clrMapOvr>
  <p:transition spd="fast">
    <p:fade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Reference image control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75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83080"/>
            <a:ext cx="5230368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83080"/>
            <a:ext cx="91440" cy="416052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47672"/>
            <a:ext cx="477316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95728"/>
            <a:ext cx="4773168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unlicensed or ambiguous reference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07608" y="1783080"/>
            <a:ext cx="5669280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07608" y="1783080"/>
            <a:ext cx="91440" cy="41605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947672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REVIEW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2395728"/>
            <a:ext cx="5212080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Check rights-labelled reference rate.</a:t>
            </a:r>
            <a:br/>
            <a:r>
              <a:t>Record source, owner and outcome.</a:t>
            </a:r>
            <a:br/>
            <a:r>
              <a:t>Return to the producing agent when the contract fails.</a:t>
            </a:r>
          </a:p>
        </p:txBody>
      </p:sp>
    </p:spTree>
  </p:cSld>
  <p:clrMapOvr>
    <a:masterClrMapping/>
  </p:clrMapOvr>
  <p:transition spd="fast">
    <p:fade/>
  </p:transition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Reference image control ·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76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owned or licensed references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reference manifest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rights-labelled reference rate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212080"/>
            <a:ext cx="11201400" cy="841248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41324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82840"/>
                </a:solidFill>
                <a:latin typeface="Aptos"/>
              </a:defRPr>
            </a:pPr>
            <a:r>
              <a:t>Evidence record: story_id · scene_id · artifact_version · source_ids · owner · approval_status</a:t>
            </a:r>
          </a:p>
        </p:txBody>
      </p:sp>
    </p:spTree>
  </p:cSld>
  <p:clrMapOvr>
    <a:masterClrMapping/>
  </p:clrMapOvr>
  <p:transition spd="fast">
    <p:fade/>
  </p:transition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Iterative variation protocol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77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baseline prompt and generated frames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change one parameter, preserve invariants and score against rubric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variation log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retain a frame only when it improves named criteria</a:t>
            </a:r>
          </a:p>
        </p:txBody>
      </p:sp>
    </p:spTree>
  </p:cSld>
  <p:clrMapOvr>
    <a:masterClrMapping/>
  </p:clrMapOvr>
  <p:transition spd="fast">
    <p:fade/>
  </p:transition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Iterative variation protocol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78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01  SCENE 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HL-S01 · version 02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9704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02  STORY 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9704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baseline prompt and generated frames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03  CREATIVE MOVE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change one parameter, preserve invariants and score against rubric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04  ARTIFACT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variation log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88536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9704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05  HUMAN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9704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single-variable iteration rate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10144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1312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06  ACCEPT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retain a frame only when it improves named criteria</a:t>
            </a:r>
          </a:p>
        </p:txBody>
      </p:sp>
    </p:spTree>
  </p:cSld>
  <p:clrMapOvr>
    <a:masterClrMapping/>
  </p:clrMapOvr>
  <p:transition spd="fast">
    <p:fade/>
  </p:transition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Iterative variation protocol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79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01  OBSERVE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untraceable prompt drift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9704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02  MEASURE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9704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single-variable iteration rate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03  LOCATE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scene, line, frame or asset ID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04  CORRECT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change one parameter, preserve invariants and score against rubric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88536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9704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05  RETEST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9704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same criterion and evidence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10144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1312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06  DISPOSITION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PASS · REVISE · BLOCK</a:t>
            </a:r>
          </a:p>
        </p:txBody>
      </p:sp>
    </p:spTree>
  </p:cSld>
  <p:clrMapOvr>
    <a:masterClrMapping/>
  </p:clrMapOvr>
  <p:transition spd="fast">
    <p:fade/>
  </p:transition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Iterative variation protocol ·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80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331720"/>
            <a:ext cx="10561320" cy="54864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7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story and scene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4441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4441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4149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95777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baseline prompt and generated frames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04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04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2754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18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variation log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1651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1651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359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787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single-variable iteration rate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025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025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9964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OWNER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539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human approval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5212080"/>
            <a:ext cx="11201400" cy="841248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41324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82840"/>
                </a:solidFill>
                <a:latin typeface="Aptos"/>
              </a:defRPr>
            </a:pPr>
            <a:r>
              <a:t>Evidence record: story_id · scene_id · artifact_version · source_ids · owner · approval_status</a:t>
            </a:r>
          </a:p>
        </p:txBody>
      </p:sp>
    </p:spTree>
  </p:cSld>
  <p:clrMapOvr>
    <a:masterClrMapping/>
  </p:clrMapOvr>
  <p:transition spd="fast">
    <p:fade/>
  </p:transition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Storyboard evaluation rubric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81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panels, shot list and story beat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score clarity, continuity, composition, emotion, feasibility and rights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storyboard QA sheet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block any critical continuity or rights failure</a:t>
            </a:r>
          </a:p>
        </p:txBody>
      </p:sp>
    </p:spTree>
  </p:cSld>
  <p:clrMapOvr>
    <a:masterClrMapping/>
  </p:clrMapOvr>
  <p:transition spd="fast">
    <p:fade/>
  </p:transition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Storyboard evaluation rubric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82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46504"/>
            <a:ext cx="519379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46504"/>
            <a:ext cx="91440" cy="42976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11095"/>
            <a:ext cx="473659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HARBOUR LIGHTS · STORY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59152"/>
            <a:ext cx="473659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0">
                <a:solidFill>
                  <a:srgbClr val="1D2A37"/>
                </a:solidFill>
                <a:latin typeface="Aptos"/>
              </a:defRPr>
            </a:pPr>
            <a:r>
              <a:t>Format: 90-second human-interest short</a:t>
            </a:r>
            <a:br/>
            <a:r>
              <a:t>Audience: Singapore adult learners</a:t>
            </a:r>
            <a:br/>
            <a:r>
              <a:t>Input: panels, shot list and story beat</a:t>
            </a:r>
            <a:br/>
            <a:r>
              <a:t>Creative operation: score clarity, continuity, composition, emotion, feasibility and rights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0176" y="1746504"/>
            <a:ext cx="569671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0176" y="1746504"/>
            <a:ext cx="91440" cy="42976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08776" y="1911095"/>
            <a:ext cx="523951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STRUCTURED ARTIFACT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2359152"/>
            <a:ext cx="523951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0">
                <a:solidFill>
                  <a:srgbClr val="1D2A37"/>
                </a:solidFill>
                <a:latin typeface="Aptos"/>
              </a:defRPr>
            </a:pPr>
            <a:r>
              <a:t>artifact_type: storyboard QA sheet</a:t>
            </a:r>
            <a:br/>
            <a:r>
              <a:t>story_id: HL-01</a:t>
            </a:r>
            <a:br/>
            <a:r>
              <a:t>review_owner: human creator</a:t>
            </a:r>
            <a:br/>
            <a:r>
              <a:t>accept_if: block any critical continuity or rights failure</a:t>
            </a:r>
          </a:p>
        </p:txBody>
      </p:sp>
    </p:spTree>
  </p:cSld>
  <p:clrMapOvr>
    <a:masterClrMapping/>
  </p:clrMapOvr>
  <p:transition spd="fast">
    <p:fade/>
  </p:transition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Storyboard evaluation rubric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83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83080"/>
            <a:ext cx="5230368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83080"/>
            <a:ext cx="91440" cy="416052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47672"/>
            <a:ext cx="477316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95728"/>
            <a:ext cx="4773168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subjective approval only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07608" y="1783080"/>
            <a:ext cx="5669280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07608" y="1783080"/>
            <a:ext cx="91440" cy="41605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947672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REVIEW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2395728"/>
            <a:ext cx="5212080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Check rubric agreement.</a:t>
            </a:r>
            <a:br/>
            <a:r>
              <a:t>Record source, owner and outcome.</a:t>
            </a:r>
            <a:br/>
            <a:r>
              <a:t>Return to the producing agent when the contract fails.</a:t>
            </a:r>
          </a:p>
        </p:txBody>
      </p:sp>
    </p:spTree>
  </p:cSld>
  <p:clrMapOvr>
    <a:masterClrMapping/>
  </p:clrMapOvr>
  <p:transition spd="fast">
    <p:fade/>
  </p:transition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Storyboard evaluation rubric ·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84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panels, shot list and story beat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storyboard QA sheet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rubric agreement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212080"/>
            <a:ext cx="11201400" cy="841248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41324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82840"/>
                </a:solidFill>
                <a:latin typeface="Aptos"/>
              </a:defRPr>
            </a:pPr>
            <a:r>
              <a:t>Evidence record: story_id · scene_id · artifact_version · source_ids · owner · approval_status</a:t>
            </a:r>
          </a:p>
        </p:txBody>
      </p:sp>
    </p:spTree>
  </p:cSld>
  <p:clrMapOvr>
    <a:masterClrMapping/>
  </p:clrMapOvr>
  <p:transition spd="fast">
    <p:fade/>
  </p:transition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Animatic timing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85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approved storyboard and dialogue timing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combine shot durations, pauses, transitions and audio cues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timed animatic plan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total duration must fit delivery constraint</a:t>
            </a:r>
          </a:p>
        </p:txBody>
      </p:sp>
    </p:spTree>
  </p:cSld>
  <p:clrMapOvr>
    <a:masterClrMapping/>
  </p:clrMapOvr>
  <p:transition spd="fast">
    <p:fade/>
  </p:transition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Animatic timing model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86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331720"/>
            <a:ext cx="10561320" cy="54864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7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BRIEF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approved storyboard and dialogue timing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4441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4441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4149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95777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combine shot durations, pauses, transitions and audio cues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04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04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2754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DRAFT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18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timed animatic plan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1651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1651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359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787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duration variance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025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025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9964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DECIDE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539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total duration must fit delivery constraint</a:t>
            </a:r>
          </a:p>
        </p:txBody>
      </p:sp>
    </p:spTree>
  </p:cSld>
  <p:clrMapOvr>
    <a:masterClrMapping/>
  </p:clrMapOvr>
  <p:transition spd="fast">
    <p:fade/>
  </p:transition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Animatic timing model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87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01  OBSERVE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pacing collapse in edit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9704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02  MEASURE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9704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duration variance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03  LOCATE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scene, line, frame or asset ID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04  CORRECT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combine shot durations, pauses, transitions and audio cues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88536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9704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05  RETEST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9704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same criterion and evidence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10144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1312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06  DISPOSITION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PASS · REVISE · BLOCK</a:t>
            </a:r>
          </a:p>
        </p:txBody>
      </p:sp>
    </p:spTree>
  </p:cSld>
  <p:clrMapOvr>
    <a:masterClrMapping/>
  </p:clrMapOvr>
  <p:transition spd="fast">
    <p:fade/>
  </p:transition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2 · MECHANISM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Animatic timing model · illustrative decision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88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" y="1755648"/>
          <a:ext cx="6583680" cy="427939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589520" y="1883664"/>
            <a:ext cx="4041648" cy="3986784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89520" y="1883664"/>
            <a:ext cx="91440" cy="3986784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2048256"/>
            <a:ext cx="358444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CLASSROOM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2496312"/>
            <a:ext cx="3584448" cy="32735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Illustrative scores only.</a:t>
            </a:r>
            <a:br/>
            <a:r>
              <a:t>Metric: duration variance</a:t>
            </a:r>
            <a:br/>
            <a:r>
              <a:t>Compare against a pre-agreed release threshold; inspect evidence before approval.</a:t>
            </a:r>
          </a:p>
        </p:txBody>
      </p:sp>
    </p:spTree>
  </p:cSld>
  <p:clrMapOvr>
    <a:masterClrMapping/>
  </p:clrMapOvr>
  <p:transition spd="fast">
    <p:fade/>
  </p:transition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PRACTICE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Topic 2 · lab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89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LAB 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Prompt contract and shot grammar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LAB 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Storyboard continuity and animatic plan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</p:spTree>
  </p:cSld>
  <p:clrMapOvr>
    <a:masterClrMapping/>
  </p:clrMapOvr>
  <p:transition spd="fast">
    <p:push dir="r"/>
  </p:transition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12648"/>
            <a:ext cx="11109960" cy="10241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600" b="1">
                <a:solidFill>
                  <a:srgbClr val="182840"/>
                </a:solidFill>
                <a:latin typeface="Aptos"/>
              </a:defRPr>
            </a:pPr>
            <a:r>
              <a:rPr sz="2300"/>
              <a:t>Topic 3: Script analysis, revision and multimodal production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66420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90</a:t>
            </a:r>
          </a:p>
        </p:txBody>
      </p:sp>
      <p:pic>
        <p:nvPicPr>
          <p:cNvPr id="9" name="Picture 8" descr="story-architecture-de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856231"/>
            <a:ext cx="6675120" cy="424281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98079" y="1856231"/>
            <a:ext cx="4187952" cy="4242816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2304288"/>
            <a:ext cx="3547872" cy="2651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1">
                <a:solidFill>
                  <a:srgbClr val="182840"/>
                </a:solidFill>
                <a:latin typeface="Aptos"/>
              </a:defRPr>
            </a:pPr>
            <a:r>
              <a:t>LO3: Utilise generative AI tools to refine video scripts for clarity, tone, and narrative consistency.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5404104"/>
            <a:ext cx="356616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008B8B"/>
                </a:solidFill>
                <a:latin typeface="Aptos"/>
              </a:defRPr>
            </a:pPr>
            <a:r>
              <a:t>10 mechanisms · 2 labs</a:t>
            </a:r>
          </a:p>
        </p:txBody>
      </p:sp>
    </p:spTree>
  </p:cSld>
  <p:clrMapOvr>
    <a:masterClrMapping/>
  </p:clrMapOvr>
  <p:transition spd="fast">
    <p:push dir="r"/>
  </p:transition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Script document schema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91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draft script and format target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parse slugline, action, character, dialogue, parenthetical and transition roles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structured script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every line has one production function</a:t>
            </a:r>
          </a:p>
        </p:txBody>
      </p:sp>
    </p:spTree>
  </p:cSld>
  <p:clrMapOvr>
    <a:masterClrMapping/>
  </p:clrMapOvr>
  <p:transition spd="fast">
    <p:fade/>
  </p:transition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Script document schema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92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331720"/>
            <a:ext cx="10561320" cy="54864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7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BRIEF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draft script and format target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4441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4441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4149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95777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parse slugline, action, character, dialogue, parenthetical and transition roles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04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04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2754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DRAFT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18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structured script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1651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1651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359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787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schema-valid line rate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025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025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9964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DECIDE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539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every line has one production function</a:t>
            </a:r>
          </a:p>
        </p:txBody>
      </p:sp>
    </p:spTree>
  </p:cSld>
  <p:clrMapOvr>
    <a:masterClrMapping/>
  </p:clrMapOvr>
  <p:transition spd="fast">
    <p:fade/>
  </p:transition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Script document schema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93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83080"/>
            <a:ext cx="5230368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83080"/>
            <a:ext cx="91440" cy="416052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47672"/>
            <a:ext cx="477316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95728"/>
            <a:ext cx="4773168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mixed prose and screenplay syntax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07608" y="1783080"/>
            <a:ext cx="5669280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07608" y="1783080"/>
            <a:ext cx="91440" cy="41605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947672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REVIEW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2395728"/>
            <a:ext cx="5212080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Check schema-valid line rate.</a:t>
            </a:r>
            <a:br/>
            <a:r>
              <a:t>Record source, owner and outcome.</a:t>
            </a:r>
            <a:br/>
            <a:r>
              <a:t>Return to the producing agent when the contract fails.</a:t>
            </a:r>
          </a:p>
        </p:txBody>
      </p:sp>
    </p:spTree>
  </p:cSld>
  <p:clrMapOvr>
    <a:masterClrMapping/>
  </p:clrMapOvr>
  <p:transition spd="fast">
    <p:fade/>
  </p:transition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Script document schema ·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94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draft script and format target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structured script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schema-valid line rate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212080"/>
            <a:ext cx="11201400" cy="841248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41324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82840"/>
                </a:solidFill>
                <a:latin typeface="Aptos"/>
              </a:defRPr>
            </a:pPr>
            <a:r>
              <a:t>Evidence record: story_id · scene_id · artifact_version · source_ids · owner · approval_status</a:t>
            </a:r>
          </a:p>
        </p:txBody>
      </p:sp>
    </p:spTree>
  </p:cSld>
  <p:clrMapOvr>
    <a:masterClrMapping/>
  </p:clrMapOvr>
  <p:transition spd="fast">
    <p:fade/>
  </p:transition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Dialogue subtext test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95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character objectives and scene conflict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compare spoken line with hidden tactic, status and emotional pressure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subtext annotation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retain line only if it advances tactic or reveals conflict</a:t>
            </a:r>
          </a:p>
        </p:txBody>
      </p:sp>
    </p:spTree>
  </p:cSld>
  <p:clrMapOvr>
    <a:masterClrMapping/>
  </p:clrMapOvr>
  <p:transition spd="fast">
    <p:fade/>
  </p:transition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Dialogue subtext test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96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01  SCENE 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HL-S01 · version 02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9704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02  STORY 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9704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character objectives and scene conflict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03  CREATIVE MOVE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compare spoken line with hidden tactic, status and emotional pressure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04  ARTIFACT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subtext annotation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88536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9704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05  HUMAN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9704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subtext-bearing line rate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10144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1312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06  ACCEPT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retain line only if it advances tactic or reveals conflict</a:t>
            </a:r>
          </a:p>
        </p:txBody>
      </p:sp>
    </p:spTree>
  </p:cSld>
  <p:clrMapOvr>
    <a:masterClrMapping/>
  </p:clrMapOvr>
  <p:transition spd="fast">
    <p:fade/>
  </p:transition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Dialogue subtext test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97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01  OBSERVE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on-the-nose explanation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9704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02  MEASURE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9704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subtext-bearing line rate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03  LOCATE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scene, line, frame or asset ID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04  CORRECT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compare spoken line with hidden tactic, status and emotional pressure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88536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9704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05  RETEST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9704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same criterion and evidence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10144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1312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06  DISPOSITION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PASS · REVISE · BLOCK</a:t>
            </a:r>
          </a:p>
        </p:txBody>
      </p:sp>
    </p:spTree>
  </p:cSld>
  <p:clrMapOvr>
    <a:masterClrMapping/>
  </p:clrMapOvr>
  <p:transition spd="fast">
    <p:fade/>
  </p:transition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Dialogue subtext test · illustrative decision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98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" y="1755648"/>
          <a:ext cx="6583680" cy="427939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589520" y="1883664"/>
            <a:ext cx="4041648" cy="3986784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89520" y="1883664"/>
            <a:ext cx="91440" cy="3986784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2048256"/>
            <a:ext cx="358444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CLASSROOM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2496312"/>
            <a:ext cx="3584448" cy="32735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Illustrative scores only.</a:t>
            </a:r>
            <a:br/>
            <a:r>
              <a:t>Metric: subtext-bearing line rate</a:t>
            </a:r>
            <a:br/>
            <a:r>
              <a:t>Compare against a pre-agreed release threshold; inspect evidence before approval.</a:t>
            </a:r>
          </a:p>
        </p:txBody>
      </p:sp>
    </p:spTree>
  </p:cSld>
  <p:clrMapOvr>
    <a:masterClrMapping/>
  </p:clrMapOvr>
  <p:transition spd="fast">
    <p:fade/>
  </p:transition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Readability and rhythm profile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99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script text and audience level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measure sentence length, lexical difficulty, repetition and pause pattern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language report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revise outliers without flattening voice</a:t>
            </a:r>
          </a:p>
        </p:txBody>
      </p:sp>
    </p:spTree>
  </p:cSld>
  <p:clrMapOvr>
    <a:masterClrMapping/>
  </p:clrMapOvr>
  <p:transition spd="fast">
    <p:fade/>
  </p:transition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Readability and rhythm profile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46504"/>
            <a:ext cx="519379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46504"/>
            <a:ext cx="91440" cy="42976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11095"/>
            <a:ext cx="473659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HARBOUR LIGHTS · STORY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59152"/>
            <a:ext cx="473659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0">
                <a:solidFill>
                  <a:srgbClr val="1D2A37"/>
                </a:solidFill>
                <a:latin typeface="Aptos"/>
              </a:defRPr>
            </a:pPr>
            <a:r>
              <a:t>Format: 90-second human-interest short</a:t>
            </a:r>
            <a:br/>
            <a:r>
              <a:t>Audience: Singapore adult learners</a:t>
            </a:r>
            <a:br/>
            <a:r>
              <a:t>Input: script text and audience level</a:t>
            </a:r>
            <a:br/>
            <a:r>
              <a:t>Creative operation: measure sentence length, lexical difficulty, repetition and pause pattern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0176" y="1746504"/>
            <a:ext cx="569671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0176" y="1746504"/>
            <a:ext cx="91440" cy="42976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08776" y="1911095"/>
            <a:ext cx="523951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STRUCTURED ARTIFACT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2359152"/>
            <a:ext cx="523951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0">
                <a:solidFill>
                  <a:srgbClr val="1D2A37"/>
                </a:solidFill>
                <a:latin typeface="Aptos"/>
              </a:defRPr>
            </a:pPr>
            <a:r>
              <a:t>artifact_type: language report</a:t>
            </a:r>
            <a:br/>
            <a:r>
              <a:t>story_id: HL-01</a:t>
            </a:r>
            <a:br/>
            <a:r>
              <a:t>review_owner: human creator</a:t>
            </a:r>
            <a:br/>
            <a:r>
              <a:t>accept_if: revise outliers without flattening voice</a:t>
            </a:r>
          </a:p>
        </p:txBody>
      </p:sp>
    </p:spTree>
  </p:cSld>
  <p:clrMapOvr>
    <a:masterClrMapping/>
  </p:clrMapOvr>
  <p:transition spd="fast">
    <p:fade/>
  </p:transition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Readability and rhythm profile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83080"/>
            <a:ext cx="5230368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83080"/>
            <a:ext cx="91440" cy="416052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47672"/>
            <a:ext cx="477316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95728"/>
            <a:ext cx="4773168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mechanical simplification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07608" y="1783080"/>
            <a:ext cx="5669280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07608" y="1783080"/>
            <a:ext cx="91440" cy="41605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947672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REVIEW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2395728"/>
            <a:ext cx="5212080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Check target-band compliance.</a:t>
            </a:r>
            <a:br/>
            <a:r>
              <a:t>Record source, owner and outcome.</a:t>
            </a:r>
            <a:br/>
            <a:r>
              <a:t>Return to the producing agent when the contract fails.</a:t>
            </a:r>
          </a:p>
        </p:txBody>
      </p:sp>
    </p:spTree>
  </p:cSld>
  <p:clrMapOvr>
    <a:masterClrMapping/>
  </p:clrMapOvr>
  <p:transition spd="fast">
    <p:fade/>
  </p:transition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Readability and rhythm profile ·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script text and audience level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language report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target-band compliance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212080"/>
            <a:ext cx="11201400" cy="841248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41324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82840"/>
                </a:solidFill>
                <a:latin typeface="Aptos"/>
              </a:defRPr>
            </a:pPr>
            <a:r>
              <a:t>Evidence record: story_id · scene_id · artifact_version · source_ids · owner · approval_status</a:t>
            </a:r>
          </a:p>
        </p:txBody>
      </p:sp>
    </p:spTree>
  </p:cSld>
  <p:clrMapOvr>
    <a:masterClrMapping/>
  </p:clrMapOvr>
  <p:transition spd="fast">
    <p:fade/>
  </p:transition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Tone vector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brand or genre samples and draft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score warmth, formality, urgency, humour and intensity with cited examples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tone matrix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revision must move failed dimensions while preserving plot facts</a:t>
            </a:r>
          </a:p>
        </p:txBody>
      </p:sp>
    </p:spTree>
  </p:cSld>
  <p:clrMapOvr>
    <a:masterClrMapping/>
  </p:clrMapOvr>
  <p:transition spd="fast">
    <p:fade/>
  </p:transition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Tone vector control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104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331720"/>
            <a:ext cx="10561320" cy="54864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7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BRIEF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brand or genre samples and draft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4441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4441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4149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95777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score warmth, formality, urgency, humour and intensity with cited examples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04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04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2754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DRAFT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18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tone matrix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1651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1651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359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787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dimension delta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025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025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9964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DECIDE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539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revision must move failed dimensions while preserving plot facts</a:t>
            </a:r>
          </a:p>
        </p:txBody>
      </p:sp>
    </p:spTree>
  </p:cSld>
  <p:clrMapOvr>
    <a:masterClrMapping/>
  </p:clrMapOvr>
  <p:transition spd="fast">
    <p:fade/>
  </p:transition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Tone vector control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01  OBSERVE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tone drift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9704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02  MEASURE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9704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dimension delta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03  LOCATE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scene, line, frame or asset ID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04  CORRECT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score warmth, formality, urgency, humour and intensity with cited examples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88536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9704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05  RETEST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9704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same criterion and evidence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10144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1312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06  DISPOSITION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PASS · REVISE · BLOCK</a:t>
            </a:r>
          </a:p>
        </p:txBody>
      </p:sp>
    </p:spTree>
  </p:cSld>
  <p:clrMapOvr>
    <a:masterClrMapping/>
  </p:clrMapOvr>
  <p:transition spd="fast">
    <p:fade/>
  </p:transition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Tone vector control ·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106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331720"/>
            <a:ext cx="10561320" cy="54864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7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story and scene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4441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4441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4149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95777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brand or genre samples and draft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04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04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2754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18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tone matrix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1651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1651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359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787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dimension delta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025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025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9964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OWNER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539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human approval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5212080"/>
            <a:ext cx="11201400" cy="841248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41324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82840"/>
                </a:solidFill>
                <a:latin typeface="Aptos"/>
              </a:defRPr>
            </a:pPr>
            <a:r>
              <a:t>Evidence record: story_id · scene_id · artifact_version · source_ids · owner · approval_status</a:t>
            </a:r>
          </a:p>
        </p:txBody>
      </p:sp>
    </p:spTree>
  </p:cSld>
  <p:clrMapOvr>
    <a:masterClrMapping/>
  </p:clrMapOvr>
  <p:transition spd="fast">
    <p:fade/>
  </p:transition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Narrative consistency graph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character, prop, location and event claims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link entities and temporal dependencies across scenes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continuity graph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flag impossible order or unsupported state change</a:t>
            </a:r>
          </a:p>
        </p:txBody>
      </p:sp>
    </p:spTree>
  </p:cSld>
  <p:clrMapOvr>
    <a:masterClrMapping/>
  </p:clrMapOvr>
  <p:transition spd="fast">
    <p:fade/>
  </p:transition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Narrative consistency graph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01  SCENE 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HL-S01 · version 02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9704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02  STORY 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9704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character, prop, location and event claims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03  CREATIVE MOVE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link entities and temporal dependencies across scenes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04  ARTIFACT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continuity graph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88536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9704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05  HUMAN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9704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unresolved contradiction count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10144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1312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06  ACCEPT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flag impossible order or unsupported state change</a:t>
            </a:r>
          </a:p>
        </p:txBody>
      </p:sp>
    </p:spTree>
  </p:cSld>
  <p:clrMapOvr>
    <a:masterClrMapping/>
  </p:clrMapOvr>
  <p:transition spd="fast">
    <p:fade/>
  </p:transition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Narrative consistency graph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83080"/>
            <a:ext cx="5230368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83080"/>
            <a:ext cx="91440" cy="416052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47672"/>
            <a:ext cx="477316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95728"/>
            <a:ext cx="4773168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contradiction hidden in long context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07608" y="1783080"/>
            <a:ext cx="5669280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07608" y="1783080"/>
            <a:ext cx="91440" cy="41605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947672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REVIEW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2395728"/>
            <a:ext cx="5212080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Check unresolved contradiction count.</a:t>
            </a:r>
            <a:br/>
            <a:r>
              <a:t>Record source, owner and outcome.</a:t>
            </a:r>
            <a:br/>
            <a:r>
              <a:t>Return to the producing agent when the contract fails.</a:t>
            </a:r>
          </a:p>
        </p:txBody>
      </p:sp>
    </p:spTree>
  </p:cSld>
  <p:clrMapOvr>
    <a:masterClrMapping/>
  </p:clrMapOvr>
  <p:transition spd="fast">
    <p:fade/>
  </p:transition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Narrative consistency graph ·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character, prop, location and event claims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continuity graph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unresolved contradiction count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212080"/>
            <a:ext cx="11201400" cy="841248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41324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82840"/>
                </a:solidFill>
                <a:latin typeface="Aptos"/>
              </a:defRPr>
            </a:pPr>
            <a:r>
              <a:t>Evidence record: story_id · scene_id · artifact_version · source_ids · owner · approval_status</a:t>
            </a:r>
          </a:p>
        </p:txBody>
      </p:sp>
    </p:spTree>
  </p:cSld>
  <p:clrMapOvr>
    <a:masterClrMapping/>
  </p:clrMapOvr>
  <p:transition spd="fast">
    <p:fade/>
  </p:transition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Pacing by information load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scene durations and new information units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estimate reveal density, emotional beat spacing and recovery 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pacing map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slow or split overloaded sequences</a:t>
            </a:r>
          </a:p>
        </p:txBody>
      </p:sp>
    </p:spTree>
  </p:cSld>
  <p:clrMapOvr>
    <a:masterClrMapping/>
  </p:clrMapOvr>
  <p:transition spd="fast">
    <p:fade/>
  </p:transition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Pacing by information load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46504"/>
            <a:ext cx="519379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46504"/>
            <a:ext cx="91440" cy="42976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11095"/>
            <a:ext cx="473659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HARBOUR LIGHTS · STORY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59152"/>
            <a:ext cx="473659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0">
                <a:solidFill>
                  <a:srgbClr val="1D2A37"/>
                </a:solidFill>
                <a:latin typeface="Aptos"/>
              </a:defRPr>
            </a:pPr>
            <a:r>
              <a:t>Format: 90-second human-interest short</a:t>
            </a:r>
            <a:br/>
            <a:r>
              <a:t>Audience: Singapore adult learners</a:t>
            </a:r>
            <a:br/>
            <a:r>
              <a:t>Input: scene durations and new information units</a:t>
            </a:r>
            <a:br/>
            <a:r>
              <a:t>Creative operation: estimate reveal density, emotional beat spacing and recovery time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0176" y="1746504"/>
            <a:ext cx="569671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0176" y="1746504"/>
            <a:ext cx="91440" cy="42976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08776" y="1911095"/>
            <a:ext cx="523951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STRUCTURED ARTIFACT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2359152"/>
            <a:ext cx="523951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0">
                <a:solidFill>
                  <a:srgbClr val="1D2A37"/>
                </a:solidFill>
                <a:latin typeface="Aptos"/>
              </a:defRPr>
            </a:pPr>
            <a:r>
              <a:t>artifact_type: pacing map</a:t>
            </a:r>
            <a:br/>
            <a:r>
              <a:t>story_id: HL-01</a:t>
            </a:r>
            <a:br/>
            <a:r>
              <a:t>review_owner: human creator</a:t>
            </a:r>
            <a:br/>
            <a:r>
              <a:t>accept_if: slow or split overloaded sequences</a:t>
            </a:r>
          </a:p>
        </p:txBody>
      </p:sp>
    </p:spTree>
  </p:cSld>
  <p:clrMapOvr>
    <a:masterClrMapping/>
  </p:clrMapOvr>
  <p:transition spd="fast">
    <p:fade/>
  </p:transition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Pacing by information load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01  OBSERVE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constant tempo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9704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02  MEASURE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9704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information units per minute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03  LOCATE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scene, line, frame or asset ID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04  CORRECT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estimate reveal density, emotional beat spacing and recovery time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88536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9704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05  RETEST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9704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same criterion and evidence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10144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1312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06  DISPOSITION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PASS · REVISE · BLOCK</a:t>
            </a:r>
          </a:p>
        </p:txBody>
      </p:sp>
    </p:spTree>
  </p:cSld>
  <p:clrMapOvr>
    <a:masterClrMapping/>
  </p:clrMapOvr>
  <p:transition spd="fast">
    <p:fade/>
  </p:transition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Pacing by information load · illustrative decision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114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" y="1755648"/>
          <a:ext cx="6583680" cy="427939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589520" y="1883664"/>
            <a:ext cx="4041648" cy="3986784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89520" y="1883664"/>
            <a:ext cx="91440" cy="3986784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2048256"/>
            <a:ext cx="358444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CLASSROOM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2496312"/>
            <a:ext cx="3584448" cy="32735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Illustrative scores only.</a:t>
            </a:r>
            <a:br/>
            <a:r>
              <a:t>Metric: information units per minute</a:t>
            </a:r>
            <a:br/>
            <a:r>
              <a:t>Compare against a pre-agreed release threshold; inspect evidence before approval.</a:t>
            </a:r>
          </a:p>
        </p:txBody>
      </p:sp>
    </p:spTree>
  </p:cSld>
  <p:clrMapOvr>
    <a:masterClrMapping/>
  </p:clrMapOvr>
  <p:transition spd="fast">
    <p:fade/>
  </p:transition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Revision diff and rationale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baseline draft and review rubric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change only failed criteria and explain each consequential edit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revision log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every edit maps to evidence or creative intent</a:t>
            </a:r>
          </a:p>
        </p:txBody>
      </p:sp>
    </p:spTree>
  </p:cSld>
  <p:clrMapOvr>
    <a:masterClrMapping/>
  </p:clrMapOvr>
  <p:transition spd="fast">
    <p:fade/>
  </p:transition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Revision diff and rationale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116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331720"/>
            <a:ext cx="10561320" cy="54864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7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BRIEF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baseline draft and review rubric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4441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4441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4149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95777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change only failed criteria and explain each consequential edit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04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04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2754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DRAFT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18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revision log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1651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1651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359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787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defect closure rate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025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025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9964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DECIDE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539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every edit maps to evidence or creative intent</a:t>
            </a:r>
          </a:p>
        </p:txBody>
      </p:sp>
    </p:spTree>
  </p:cSld>
  <p:clrMapOvr>
    <a:masterClrMapping/>
  </p:clrMapOvr>
  <p:transition spd="fast">
    <p:fade/>
  </p:transition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Revision diff and rationale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83080"/>
            <a:ext cx="5230368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83080"/>
            <a:ext cx="91440" cy="416052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47672"/>
            <a:ext cx="477316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95728"/>
            <a:ext cx="4773168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endless cosmetic rewrite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07608" y="1783080"/>
            <a:ext cx="5669280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07608" y="1783080"/>
            <a:ext cx="91440" cy="41605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947672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REVIEW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2395728"/>
            <a:ext cx="5212080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Check defect closure rate.</a:t>
            </a:r>
            <a:br/>
            <a:r>
              <a:t>Record source, owner and outcome.</a:t>
            </a:r>
            <a:br/>
            <a:r>
              <a:t>Return to the producing agent when the contract fails.</a:t>
            </a:r>
          </a:p>
        </p:txBody>
      </p:sp>
    </p:spTree>
  </p:cSld>
  <p:clrMapOvr>
    <a:masterClrMapping/>
  </p:clrMapOvr>
  <p:transition spd="fast">
    <p:fade/>
  </p:transition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Revision diff and rationale ·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baseline draft and review rubric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revision log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defect closure rate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212080"/>
            <a:ext cx="11201400" cy="841248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41324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82840"/>
                </a:solidFill>
                <a:latin typeface="Aptos"/>
              </a:defRPr>
            </a:pPr>
            <a:r>
              <a:t>Evidence record: story_id · scene_id · artifact_version · source_ids · owner · approval_status</a:t>
            </a:r>
          </a:p>
        </p:txBody>
      </p:sp>
    </p:spTree>
  </p:cSld>
  <p:clrMapOvr>
    <a:masterClrMapping/>
  </p:clrMapOvr>
  <p:transition spd="fast">
    <p:fade/>
  </p:transition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Voiceover and dialogue split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visual action and information needs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assign only non-visible information to narration and preserve scene sound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audio script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remove narration that merely describes the picture</a:t>
            </a:r>
          </a:p>
        </p:txBody>
      </p:sp>
    </p:spTree>
  </p:cSld>
  <p:clrMapOvr>
    <a:masterClrMapping/>
  </p:clrMapOvr>
  <p:transition spd="fast">
    <p:fade/>
  </p:transition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Voiceover and dialogue split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01  SCENE 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HL-S01 · version 02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9704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02  STORY 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9704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visual action and information needs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03  CREATIVE MOVE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assign only non-visible information to narration and preserve scene sound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04  ARTIFACT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audio script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88536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9704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05  HUMAN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9704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audio-visual complementarity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10144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1312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06  ACCEPT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remove narration that merely describes the picture</a:t>
            </a:r>
          </a:p>
        </p:txBody>
      </p:sp>
    </p:spTree>
  </p:cSld>
  <p:clrMapOvr>
    <a:masterClrMapping/>
  </p:clrMapOvr>
  <p:transition spd="fast">
    <p:fade/>
  </p:transition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Voiceover and dialogue split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01  OBSERVE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redundant voiceover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9704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02  MEASURE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9704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audio-visual complementarity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03  LOCATE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scene, line, frame or asset ID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04  CORRECT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assign only non-visible information to narration and preserve scene sound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88536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9704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05  RETEST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9704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same criterion and evidence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10144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1312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06  DISPOSITION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PASS · REVISE · BLOCK</a:t>
            </a:r>
          </a:p>
        </p:txBody>
      </p:sp>
    </p:spTree>
  </p:cSld>
  <p:clrMapOvr>
    <a:masterClrMapping/>
  </p:clrMapOvr>
  <p:transition spd="fast">
    <p:fade/>
  </p:transition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Voiceover and dialogue split ·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122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331720"/>
            <a:ext cx="10561320" cy="54864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7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story and scene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4441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4441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4149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95777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visual action and information needs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04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04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2754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18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audio script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1651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1651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359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787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audio-visual complementarity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025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025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9964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OWNER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539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human approval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5212080"/>
            <a:ext cx="11201400" cy="841248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41324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82840"/>
                </a:solidFill>
                <a:latin typeface="Aptos"/>
              </a:defRPr>
            </a:pPr>
            <a:r>
              <a:t>Evidence record: story_id · scene_id · artifact_version · source_ids · owner · approval_status</a:t>
            </a:r>
          </a:p>
        </p:txBody>
      </p:sp>
    </p:spTree>
  </p:cSld>
  <p:clrMapOvr>
    <a:masterClrMapping/>
  </p:clrMapOvr>
  <p:transition spd="fast">
    <p:fade/>
  </p:transition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Multimodal asset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script, storyboard, audio and captions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bind asset IDs, scene IDs, timing, owner and version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production manifest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no orphan asset enters the edit</a:t>
            </a:r>
          </a:p>
        </p:txBody>
      </p:sp>
    </p:spTree>
  </p:cSld>
  <p:clrMapOvr>
    <a:masterClrMapping/>
  </p:clrMapOvr>
  <p:transition spd="fast">
    <p:fade/>
  </p:transition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Multimodal asset map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46504"/>
            <a:ext cx="519379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46504"/>
            <a:ext cx="91440" cy="42976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11095"/>
            <a:ext cx="473659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HARBOUR LIGHTS · STORY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59152"/>
            <a:ext cx="473659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0">
                <a:solidFill>
                  <a:srgbClr val="1D2A37"/>
                </a:solidFill>
                <a:latin typeface="Aptos"/>
              </a:defRPr>
            </a:pPr>
            <a:r>
              <a:t>Format: 90-second human-interest short</a:t>
            </a:r>
            <a:br/>
            <a:r>
              <a:t>Audience: Singapore adult learners</a:t>
            </a:r>
            <a:br/>
            <a:r>
              <a:t>Input: script, storyboard, audio and captions</a:t>
            </a:r>
            <a:br/>
            <a:r>
              <a:t>Creative operation: bind asset IDs, scene IDs, timing, owner and version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0176" y="1746504"/>
            <a:ext cx="569671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0176" y="1746504"/>
            <a:ext cx="91440" cy="42976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08776" y="1911095"/>
            <a:ext cx="523951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STRUCTURED ARTIFACT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2359152"/>
            <a:ext cx="523951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0">
                <a:solidFill>
                  <a:srgbClr val="1D2A37"/>
                </a:solidFill>
                <a:latin typeface="Aptos"/>
              </a:defRPr>
            </a:pPr>
            <a:r>
              <a:t>artifact_type: production manifest</a:t>
            </a:r>
            <a:br/>
            <a:r>
              <a:t>story_id: HL-01</a:t>
            </a:r>
            <a:br/>
            <a:r>
              <a:t>review_owner: human creator</a:t>
            </a:r>
            <a:br/>
            <a:r>
              <a:t>accept_if: no orphan asset enters the edit</a:t>
            </a:r>
          </a:p>
        </p:txBody>
      </p:sp>
    </p:spTree>
  </p:cSld>
  <p:clrMapOvr>
    <a:masterClrMapping/>
  </p:clrMapOvr>
  <p:transition spd="fast">
    <p:fade/>
  </p:transition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Multimodal asset map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83080"/>
            <a:ext cx="5230368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83080"/>
            <a:ext cx="91440" cy="416052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47672"/>
            <a:ext cx="477316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95728"/>
            <a:ext cx="4773168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wrong-version media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07608" y="1783080"/>
            <a:ext cx="5669280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07608" y="1783080"/>
            <a:ext cx="91440" cy="41605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947672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REVIEW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2395728"/>
            <a:ext cx="5212080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Check manifest completeness.</a:t>
            </a:r>
            <a:br/>
            <a:r>
              <a:t>Record source, owner and outcome.</a:t>
            </a:r>
            <a:br/>
            <a:r>
              <a:t>Return to the producing agent when the contract fails.</a:t>
            </a:r>
          </a:p>
        </p:txBody>
      </p:sp>
    </p:spTree>
  </p:cSld>
  <p:clrMapOvr>
    <a:masterClrMapping/>
  </p:clrMapOvr>
  <p:transition spd="fast">
    <p:fade/>
  </p:transition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Multimodal asset map ·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script, storyboard, audio and captions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production manifest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manifest completeness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212080"/>
            <a:ext cx="11201400" cy="841248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41324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82840"/>
                </a:solidFill>
                <a:latin typeface="Aptos"/>
              </a:defRPr>
            </a:pPr>
            <a:r>
              <a:t>Evidence record: story_id · scene_id · artifact_version · source_ids · owner · approval_status</a:t>
            </a:r>
          </a:p>
        </p:txBody>
      </p:sp>
    </p:spTree>
  </p:cSld>
  <p:clrMapOvr>
    <a:masterClrMapping/>
  </p:clrMapOvr>
  <p:transition spd="fast">
    <p:fade/>
  </p:transition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Rough-cut acceptance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edit timeline and delivery brief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review narrative clarity, sync, pacing, captions, mix and export settings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rough-cut report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release only when critical defects are zero</a:t>
            </a:r>
          </a:p>
        </p:txBody>
      </p:sp>
    </p:spTree>
  </p:cSld>
  <p:clrMapOvr>
    <a:masterClrMapping/>
  </p:clrMapOvr>
  <p:transition spd="fast">
    <p:fade/>
  </p:transition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Rough-cut acceptance gate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128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331720"/>
            <a:ext cx="10561320" cy="54864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7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BRIEF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edit timeline and delivery brief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4441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4441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4149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95777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review narrative clarity, sync, pacing, captions, mix and export settings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04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04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2754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DRAFT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18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rough-cut report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1651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1651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359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787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critical defect count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025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025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9964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DECIDE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539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release only when critical defects are zero</a:t>
            </a:r>
          </a:p>
        </p:txBody>
      </p:sp>
    </p:spTree>
  </p:cSld>
  <p:clrMapOvr>
    <a:masterClrMapping/>
  </p:clrMapOvr>
  <p:transition spd="fast">
    <p:fade/>
  </p:transition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Rough-cut acceptance gate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129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01  OBSERVE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technically exported but narratively unclear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9704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02  MEASURE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9704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critical defect count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03  LOCATE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scene, line, frame or asset ID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04  CORRECT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review narrative clarity, sync, pacing, captions, mix and export settings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88536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9704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05  RETEST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9704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same criterion and evidence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10144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1312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06  DISPOSITION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PASS · REVISE · BLOCK</a:t>
            </a:r>
          </a:p>
        </p:txBody>
      </p:sp>
    </p:spTree>
  </p:cSld>
  <p:clrMapOvr>
    <a:masterClrMapping/>
  </p:clrMapOvr>
  <p:transition spd="fast">
    <p:fade/>
  </p:transition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3 · MECHANISM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Rough-cut acceptance gate · illustrative decision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130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" y="1755648"/>
          <a:ext cx="6583680" cy="427939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589520" y="1883664"/>
            <a:ext cx="4041648" cy="3986784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89520" y="1883664"/>
            <a:ext cx="91440" cy="3986784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2048256"/>
            <a:ext cx="358444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CLASSROOM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2496312"/>
            <a:ext cx="3584448" cy="32735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Illustrative scores only.</a:t>
            </a:r>
            <a:br/>
            <a:r>
              <a:t>Metric: critical defect count</a:t>
            </a:r>
            <a:br/>
            <a:r>
              <a:t>Compare against a pre-agreed release threshold; inspect evidence before approval.</a:t>
            </a:r>
          </a:p>
        </p:txBody>
      </p:sp>
    </p:spTree>
  </p:cSld>
  <p:clrMapOvr>
    <a:masterClrMapping/>
  </p:clrMapOvr>
  <p:transition spd="fast">
    <p:fade/>
  </p:transition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PRACTICE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Topic 3 · lab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131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LAB 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Script parsing and diagnostic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LAB 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Revision, voiceover and rough-cut plan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</p:spTree>
  </p:cSld>
  <p:clrMapOvr>
    <a:masterClrMapping/>
  </p:clrMapOvr>
  <p:transition spd="fast">
    <p:push dir="r"/>
  </p:transition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LO4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12648"/>
            <a:ext cx="11109960" cy="10241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600" b="1">
                <a:solidFill>
                  <a:srgbClr val="182840"/>
                </a:solidFill>
                <a:latin typeface="Aptos"/>
              </a:defRPr>
            </a:pPr>
            <a:r>
              <a:rPr sz="2300"/>
              <a:t>Topic 4: Bias, authenticity and responsible creative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66420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132</a:t>
            </a:r>
          </a:p>
        </p:txBody>
      </p:sp>
      <p:pic>
        <p:nvPicPr>
          <p:cNvPr id="9" name="Picture 8" descr="rights-review-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856231"/>
            <a:ext cx="6675120" cy="424281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98079" y="1856231"/>
            <a:ext cx="4187952" cy="4242816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2304288"/>
            <a:ext cx="3547872" cy="2651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1">
                <a:solidFill>
                  <a:srgbClr val="182840"/>
                </a:solidFill>
                <a:latin typeface="Aptos"/>
              </a:defRPr>
            </a:pPr>
            <a:r>
              <a:t>LO4: Analyse generative AI outputs for ethical issues, bias, and copyright risks, applying appropriate corrective actions.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5404104"/>
            <a:ext cx="356616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008B8B"/>
                </a:solidFill>
                <a:latin typeface="Aptos"/>
              </a:defRPr>
            </a:pPr>
            <a:r>
              <a:t>10 mechanisms · 2 labs</a:t>
            </a:r>
          </a:p>
        </p:txBody>
      </p:sp>
    </p:spTree>
  </p:cSld>
  <p:clrMapOvr>
    <a:masterClrMapping/>
  </p:clrMapOvr>
  <p:transition spd="fast">
    <p:push dir="r"/>
  </p:transition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Bias surface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133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story bible, audience and generated draft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inspect representation, agency, descriptors, roles, harm and omission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bias review matrix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review impact, not only model intent</a:t>
            </a:r>
          </a:p>
        </p:txBody>
      </p:sp>
    </p:spTree>
  </p:cSld>
  <p:clrMapOvr>
    <a:masterClrMapping/>
  </p:clrMapOvr>
  <p:transition spd="fast">
    <p:fade/>
  </p:transition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Bias surface map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134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331720"/>
            <a:ext cx="10561320" cy="54864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7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BRIEF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story bible, audience and generated draft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4441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4441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4149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95777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inspect representation, agency, descriptors, roles, harm and omission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04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04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2754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DRAFT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18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bias review matrix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1651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1651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359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787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flagged pattern count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025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025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9964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DECIDE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539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review impact, not only model intent</a:t>
            </a:r>
          </a:p>
        </p:txBody>
      </p:sp>
    </p:spTree>
  </p:cSld>
  <p:clrMapOvr>
    <a:masterClrMapping/>
  </p:clrMapOvr>
  <p:transition spd="fast">
    <p:fade/>
  </p:transition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Bias surface map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135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83080"/>
            <a:ext cx="5230368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83080"/>
            <a:ext cx="91440" cy="416052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47672"/>
            <a:ext cx="477316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95728"/>
            <a:ext cx="4773168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stereotype reproduced as realism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07608" y="1783080"/>
            <a:ext cx="5669280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07608" y="1783080"/>
            <a:ext cx="91440" cy="41605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947672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REVIEW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2395728"/>
            <a:ext cx="5212080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Check flagged pattern count.</a:t>
            </a:r>
            <a:br/>
            <a:r>
              <a:t>Record source, owner and outcome.</a:t>
            </a:r>
            <a:br/>
            <a:r>
              <a:t>Return to the producing agent when the contract fails.</a:t>
            </a:r>
          </a:p>
        </p:txBody>
      </p:sp>
    </p:spTree>
  </p:cSld>
  <p:clrMapOvr>
    <a:masterClrMapping/>
  </p:clrMapOvr>
  <p:transition spd="fast">
    <p:fade/>
  </p:transition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Bias surface map ·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136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story bible, audience and generated draft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bias review matrix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flagged pattern count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212080"/>
            <a:ext cx="11201400" cy="841248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41324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82840"/>
                </a:solidFill>
                <a:latin typeface="Aptos"/>
              </a:defRPr>
            </a:pPr>
            <a:r>
              <a:t>Evidence record: story_id · scene_id · artifact_version · source_ids · owner · approval_status</a:t>
            </a:r>
          </a:p>
        </p:txBody>
      </p:sp>
    </p:spTree>
  </p:cSld>
  <p:clrMapOvr>
    <a:masterClrMapping/>
  </p:clrMapOvr>
  <p:transition spd="fast">
    <p:fade/>
  </p:transition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Counterfactual character test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137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character and scene records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change one protected or social attribute and compare role, agency and outcome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counterfactual report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investigate unexplained quality or outcome shifts</a:t>
            </a:r>
          </a:p>
        </p:txBody>
      </p:sp>
    </p:spTree>
  </p:cSld>
  <p:clrMapOvr>
    <a:masterClrMapping/>
  </p:clrMapOvr>
  <p:transition spd="fast">
    <p:fade/>
  </p:transition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Counterfactual character test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138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01  SCENE 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HL-S01 · version 02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9704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02  STORY 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9704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character and scene records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03  CREATIVE MOVE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change one protected or social attribute and compare role, agency and outcome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04  ARTIFACT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counterfactual report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88536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9704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05  HUMAN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9704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outcome asymmetry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10144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1312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06  ACCEPT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investigate unexplained quality or outcome shifts</a:t>
            </a:r>
          </a:p>
        </p:txBody>
      </p:sp>
    </p:spTree>
  </p:cSld>
  <p:clrMapOvr>
    <a:masterClrMapping/>
  </p:clrMapOvr>
  <p:transition spd="fast">
    <p:fade/>
  </p:transition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Counterfactual character test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139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01  OBSERVE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token diversity without agency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9704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02  MEASURE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9704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outcome asymmetry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03  LOCATE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scene, line, frame or asset ID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04  CORRECT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change one protected or social attribute and compare role, agency and outcome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88536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9704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05  RETEST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9704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same criterion and evidence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10144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1312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06  DISPOSITION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PASS · REVISE · BLOCK</a:t>
            </a:r>
          </a:p>
        </p:txBody>
      </p:sp>
    </p:spTree>
  </p:cSld>
  <p:clrMapOvr>
    <a:masterClrMapping/>
  </p:clrMapOvr>
  <p:transition spd="fast">
    <p:fade/>
  </p:transition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600" b="1">
                <a:solidFill>
                  <a:srgbClr val="182840"/>
                </a:solidFill>
                <a:latin typeface="Aptos"/>
              </a:defRPr>
            </a:pPr>
            <a:r>
              <a:t>Counterfactual character test · illustrative decision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140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" y="1755648"/>
          <a:ext cx="6583680" cy="427939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589520" y="1883664"/>
            <a:ext cx="4041648" cy="3986784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89520" y="1883664"/>
            <a:ext cx="91440" cy="3986784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2048256"/>
            <a:ext cx="358444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CLASSROOM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2496312"/>
            <a:ext cx="3584448" cy="32735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Illustrative scores only.</a:t>
            </a:r>
            <a:br/>
            <a:r>
              <a:t>Metric: outcome asymmetry</a:t>
            </a:r>
            <a:br/>
            <a:r>
              <a:t>Compare against a pre-agreed release threshold; inspect evidence before approval.</a:t>
            </a:r>
          </a:p>
        </p:txBody>
      </p:sp>
    </p:spTree>
  </p:cSld>
  <p:clrMapOvr>
    <a:masterClrMapping/>
  </p:clrMapOvr>
  <p:transition spd="fast">
    <p:fade/>
  </p:transition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Cultural specificity check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141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setting claims and cultural references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separate researched detail, lived contribution and generic inference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sensitivity notes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escalate high-impact claims to an informed reviewer</a:t>
            </a:r>
          </a:p>
        </p:txBody>
      </p:sp>
    </p:spTree>
  </p:cSld>
  <p:clrMapOvr>
    <a:masterClrMapping/>
  </p:clrMapOvr>
  <p:transition spd="fast">
    <p:fade/>
  </p:transition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Cultural specificity check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142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46504"/>
            <a:ext cx="519379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46504"/>
            <a:ext cx="91440" cy="42976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11095"/>
            <a:ext cx="473659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HARBOUR LIGHTS · STORY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59152"/>
            <a:ext cx="473659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0">
                <a:solidFill>
                  <a:srgbClr val="1D2A37"/>
                </a:solidFill>
                <a:latin typeface="Aptos"/>
              </a:defRPr>
            </a:pPr>
            <a:r>
              <a:t>Format: 90-second human-interest short</a:t>
            </a:r>
            <a:br/>
            <a:r>
              <a:t>Audience: Singapore adult learners</a:t>
            </a:r>
            <a:br/>
            <a:r>
              <a:t>Input: setting claims and cultural references</a:t>
            </a:r>
            <a:br/>
            <a:r>
              <a:t>Creative operation: separate researched detail, lived contribution and generic inference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0176" y="1746504"/>
            <a:ext cx="569671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0176" y="1746504"/>
            <a:ext cx="91440" cy="42976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08776" y="1911095"/>
            <a:ext cx="523951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STRUCTURED ARTIFACT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2359152"/>
            <a:ext cx="523951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0">
                <a:solidFill>
                  <a:srgbClr val="1D2A37"/>
                </a:solidFill>
                <a:latin typeface="Aptos"/>
              </a:defRPr>
            </a:pPr>
            <a:r>
              <a:t>artifact_type: sensitivity notes</a:t>
            </a:r>
            <a:br/>
            <a:r>
              <a:t>story_id: HL-01</a:t>
            </a:r>
            <a:br/>
            <a:r>
              <a:t>review_owner: human creator</a:t>
            </a:r>
            <a:br/>
            <a:r>
              <a:t>accept_if: escalate high-impact claims to an informed reviewer</a:t>
            </a:r>
          </a:p>
        </p:txBody>
      </p:sp>
    </p:spTree>
  </p:cSld>
  <p:clrMapOvr>
    <a:masterClrMapping/>
  </p:clrMapOvr>
  <p:transition spd="fast">
    <p:fade/>
  </p:transition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Cultural specificity check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143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83080"/>
            <a:ext cx="5230368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83080"/>
            <a:ext cx="91440" cy="416052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47672"/>
            <a:ext cx="477316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95728"/>
            <a:ext cx="4773168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flattened cultural shorthand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07608" y="1783080"/>
            <a:ext cx="5669280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07608" y="1783080"/>
            <a:ext cx="91440" cy="41605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947672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REVIEW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2395728"/>
            <a:ext cx="5212080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Check verified-detail share.</a:t>
            </a:r>
            <a:br/>
            <a:r>
              <a:t>Record source, owner and outcome.</a:t>
            </a:r>
            <a:br/>
            <a:r>
              <a:t>Return to the producing agent when the contract fails.</a:t>
            </a:r>
          </a:p>
        </p:txBody>
      </p:sp>
    </p:spTree>
  </p:cSld>
  <p:clrMapOvr>
    <a:masterClrMapping/>
  </p:clrMapOvr>
  <p:transition spd="fast">
    <p:fade/>
  </p:transition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Cultural specificity check ·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144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setting claims and cultural references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sensitivity notes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verified-detail share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212080"/>
            <a:ext cx="11201400" cy="841248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41324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82840"/>
                </a:solidFill>
                <a:latin typeface="Aptos"/>
              </a:defRPr>
            </a:pPr>
            <a:r>
              <a:t>Evidence record: story_id · scene_id · artifact_version · source_ids · owner · approval_status</a:t>
            </a:r>
          </a:p>
        </p:txBody>
      </p:sp>
    </p:spTree>
  </p:cSld>
  <p:clrMapOvr>
    <a:masterClrMapping/>
  </p:clrMapOvr>
  <p:transition spd="fast">
    <p:fade/>
  </p:transition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Factual claim ledger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145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script claims and sources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classify supported, disputed, uncertain, fictional or opinion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claim register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block unsupported real-world claims</a:t>
            </a:r>
          </a:p>
        </p:txBody>
      </p:sp>
    </p:spTree>
  </p:cSld>
  <p:clrMapOvr>
    <a:masterClrMapping/>
  </p:clrMapOvr>
  <p:transition spd="fast">
    <p:fade/>
  </p:transition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Factual claim ledger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146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331720"/>
            <a:ext cx="10561320" cy="54864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7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BRIEF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script claims and sources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4441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4441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4149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95777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classify supported, disputed, uncertain, fictional or opinion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04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04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2754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DRAFT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18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claim register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1651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1651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359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787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supported-claim rate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025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025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9964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DECIDE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539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block unsupported real-world claims</a:t>
            </a:r>
          </a:p>
        </p:txBody>
      </p:sp>
    </p:spTree>
  </p:cSld>
  <p:clrMapOvr>
    <a:masterClrMapping/>
  </p:clrMapOvr>
  <p:transition spd="fast">
    <p:fade/>
  </p:transition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Factual claim ledger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147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01  OBSERVE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hallucinated authority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9704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02  MEASURE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9704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supported-claim rate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03  LOCATE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scene, line, frame or asset ID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04  CORRECT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classify supported, disputed, uncertain, fictional or opinion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88536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9704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05  RETEST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9704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same criterion and evidence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10144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1312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06  DISPOSITION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PASS · REVISE · BLOCK</a:t>
            </a:r>
          </a:p>
        </p:txBody>
      </p:sp>
    </p:spTree>
  </p:cSld>
  <p:clrMapOvr>
    <a:masterClrMapping/>
  </p:clrMapOvr>
  <p:transition spd="fast">
    <p:fade/>
  </p:transition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Factual claim ledger ·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148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331720"/>
            <a:ext cx="10561320" cy="54864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7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story and scene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4441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4441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4149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95777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script claims and sources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04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04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2754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18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claim register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1651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1651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359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787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supported-claim rate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025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025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9964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OWNER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539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human approval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5212080"/>
            <a:ext cx="11201400" cy="841248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41324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82840"/>
                </a:solidFill>
                <a:latin typeface="Aptos"/>
              </a:defRPr>
            </a:pPr>
            <a:r>
              <a:t>Evidence record: story_id · scene_id · artifact_version · source_ids · owner · approval_status</a:t>
            </a:r>
          </a:p>
        </p:txBody>
      </p:sp>
    </p:spTree>
  </p:cSld>
  <p:clrMapOvr>
    <a:masterClrMapping/>
  </p:clrMapOvr>
  <p:transition spd="fast">
    <p:fade/>
  </p:transition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Authenticity boundary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149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human experience and AI-assisted language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record whose experience, voice and consent supports the narrative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authenticity statement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do not fabricate testimony or lived experience</a:t>
            </a:r>
          </a:p>
        </p:txBody>
      </p:sp>
    </p:spTree>
  </p:cSld>
  <p:clrMapOvr>
    <a:masterClrMapping/>
  </p:clrMapOvr>
  <p:transition spd="fast">
    <p:fade/>
  </p:transition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Authenticity boundary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01  SCENE 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HL-S01 · version 02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9704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02  STORY 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9704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human experience and AI-assisted language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03  CREATIVE MOVE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record whose experience, voice and consent supports the narrative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04  ARTIFACT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authenticity statement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88536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9704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05  HUMAN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9704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consent coverage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10144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1312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06  ACCEPT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do not fabricate testimony or lived experience</a:t>
            </a:r>
          </a:p>
        </p:txBody>
      </p:sp>
    </p:spTree>
  </p:cSld>
  <p:clrMapOvr>
    <a:masterClrMapping/>
  </p:clrMapOvr>
  <p:transition spd="fast">
    <p:fade/>
  </p:transition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Authenticity boundary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151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83080"/>
            <a:ext cx="5230368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83080"/>
            <a:ext cx="91440" cy="416052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47672"/>
            <a:ext cx="477316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95728"/>
            <a:ext cx="4773168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synthetic personal story presented as real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07608" y="1783080"/>
            <a:ext cx="5669280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07608" y="1783080"/>
            <a:ext cx="91440" cy="41605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947672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REVIEW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2395728"/>
            <a:ext cx="5212080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Check consent coverage.</a:t>
            </a:r>
            <a:br/>
            <a:r>
              <a:t>Record source, owner and outcome.</a:t>
            </a:r>
            <a:br/>
            <a:r>
              <a:t>Return to the producing agent when the contract fails.</a:t>
            </a:r>
          </a:p>
        </p:txBody>
      </p:sp>
    </p:spTree>
  </p:cSld>
  <p:clrMapOvr>
    <a:masterClrMapping/>
  </p:clrMapOvr>
  <p:transition spd="fast">
    <p:fade/>
  </p:transition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Authenticity boundary ·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152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human experience and AI-assisted language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authenticity statement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consent coverage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212080"/>
            <a:ext cx="11201400" cy="841248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41324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82840"/>
                </a:solidFill>
                <a:latin typeface="Aptos"/>
              </a:defRPr>
            </a:pPr>
            <a:r>
              <a:t>Evidence record: story_id · scene_id · artifact_version · source_ids · owner · approval_status</a:t>
            </a:r>
          </a:p>
        </p:txBody>
      </p:sp>
    </p:spTree>
  </p:cSld>
  <p:clrMapOvr>
    <a:masterClrMapping/>
  </p:clrMapOvr>
  <p:transition spd="fast">
    <p:fade/>
  </p:transition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Synthetic media disclosure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153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generated image, audio or video and 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assess audience expectation, materiality and deceptive potential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disclosure decision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disclose when generation could mislead a reasonable viewer</a:t>
            </a:r>
          </a:p>
        </p:txBody>
      </p:sp>
    </p:spTree>
  </p:cSld>
  <p:clrMapOvr>
    <a:masterClrMapping/>
  </p:clrMapOvr>
  <p:transition spd="fast">
    <p:fade/>
  </p:transition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Synthetic media disclosure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154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46504"/>
            <a:ext cx="519379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46504"/>
            <a:ext cx="91440" cy="42976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11095"/>
            <a:ext cx="473659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HARBOUR LIGHTS · STORY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59152"/>
            <a:ext cx="473659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0">
                <a:solidFill>
                  <a:srgbClr val="1D2A37"/>
                </a:solidFill>
                <a:latin typeface="Aptos"/>
              </a:defRPr>
            </a:pPr>
            <a:r>
              <a:t>Format: 90-second human-interest short</a:t>
            </a:r>
            <a:br/>
            <a:r>
              <a:t>Audience: Singapore adult learners</a:t>
            </a:r>
            <a:br/>
            <a:r>
              <a:t>Input: generated image, audio or video and context</a:t>
            </a:r>
            <a:br/>
            <a:r>
              <a:t>Creative operation: assess audience expectation, materiality and deceptive potential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0176" y="1746504"/>
            <a:ext cx="569671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0176" y="1746504"/>
            <a:ext cx="91440" cy="42976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08776" y="1911095"/>
            <a:ext cx="523951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STRUCTURED ARTIFACT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2359152"/>
            <a:ext cx="523951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0">
                <a:solidFill>
                  <a:srgbClr val="1D2A37"/>
                </a:solidFill>
                <a:latin typeface="Aptos"/>
              </a:defRPr>
            </a:pPr>
            <a:r>
              <a:t>artifact_type: disclosure decision</a:t>
            </a:r>
            <a:br/>
            <a:r>
              <a:t>story_id: HL-01</a:t>
            </a:r>
            <a:br/>
            <a:r>
              <a:t>review_owner: human creator</a:t>
            </a:r>
            <a:br/>
            <a:r>
              <a:t>accept_if: disclose when generation could mislead a reasonable viewer</a:t>
            </a:r>
          </a:p>
        </p:txBody>
      </p:sp>
    </p:spTree>
  </p:cSld>
  <p:clrMapOvr>
    <a:masterClrMapping/>
  </p:clrMapOvr>
  <p:transition spd="fast">
    <p:fade/>
  </p:transition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Synthetic media disclosure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155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01  OBSERVE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undisclosed realistic fabrication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9704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02  MEASURE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9704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decision trace completeness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03  LOCATE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scene, line, frame or asset ID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04  CORRECT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assess audience expectation, materiality and deceptive potential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88536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9704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05  RETEST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9704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same criterion and evidence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10144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1312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06  DISPOSITION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PASS · REVISE · BLOCK</a:t>
            </a:r>
          </a:p>
        </p:txBody>
      </p:sp>
    </p:spTree>
  </p:cSld>
  <p:clrMapOvr>
    <a:masterClrMapping/>
  </p:clrMapOvr>
  <p:transition spd="fast">
    <p:fade/>
  </p:transition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Synthetic media disclosure · illustrative decision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156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" y="1755648"/>
          <a:ext cx="6583680" cy="427939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589520" y="1883664"/>
            <a:ext cx="4041648" cy="3986784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89520" y="1883664"/>
            <a:ext cx="91440" cy="3986784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2048256"/>
            <a:ext cx="358444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CLASSROOM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2496312"/>
            <a:ext cx="3584448" cy="32735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Illustrative scores only.</a:t>
            </a:r>
            <a:br/>
            <a:r>
              <a:t>Metric: decision trace completeness</a:t>
            </a:r>
            <a:br/>
            <a:r>
              <a:t>Compare against a pre-agreed release threshold; inspect evidence before approval.</a:t>
            </a:r>
          </a:p>
        </p:txBody>
      </p:sp>
    </p:spTree>
  </p:cSld>
  <p:clrMapOvr>
    <a:masterClrMapping/>
  </p:clrMapOvr>
  <p:transition spd="fast">
    <p:fade/>
  </p:transition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Privacy-minimised prompting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157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source material and tool policy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remove identifiers, secrets and unnecessary personal data before upload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safe prompt pack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use only data necessary for the creative task</a:t>
            </a:r>
          </a:p>
        </p:txBody>
      </p:sp>
    </p:spTree>
  </p:cSld>
  <p:clrMapOvr>
    <a:masterClrMapping/>
  </p:clrMapOvr>
  <p:transition spd="fast">
    <p:fade/>
  </p:transition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Privacy-minimised prompting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158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331720"/>
            <a:ext cx="10561320" cy="54864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7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BRIEF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source material and tool policy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4441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4441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4149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95777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remove identifiers, secrets and unnecessary personal data before upload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04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04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2754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DRAFT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18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safe prompt pack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1651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1651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359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787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PII leakage count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025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025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9964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DECIDE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539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use only data necessary for the creative task</a:t>
            </a:r>
          </a:p>
        </p:txBody>
      </p:sp>
    </p:spTree>
  </p:cSld>
  <p:clrMapOvr>
    <a:masterClrMapping/>
  </p:clrMapOvr>
  <p:transition spd="fast">
    <p:fade/>
  </p:transition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Privacy-minimised prompting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159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83080"/>
            <a:ext cx="5230368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83080"/>
            <a:ext cx="91440" cy="416052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47672"/>
            <a:ext cx="477316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95728"/>
            <a:ext cx="4773168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personal data copied into public tool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07608" y="1783080"/>
            <a:ext cx="5669280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07608" y="1783080"/>
            <a:ext cx="91440" cy="41605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947672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REVIEW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2395728"/>
            <a:ext cx="5212080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Check PII leakage count.</a:t>
            </a:r>
            <a:br/>
            <a:r>
              <a:t>Record source, owner and outcome.</a:t>
            </a:r>
            <a:br/>
            <a:r>
              <a:t>Return to the producing agent when the contract fails.</a:t>
            </a:r>
          </a:p>
        </p:txBody>
      </p:sp>
    </p:spTree>
  </p:cSld>
  <p:clrMapOvr>
    <a:masterClrMapping/>
  </p:clrMapOvr>
  <p:transition spd="fast">
    <p:fade/>
  </p:transition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Privacy-minimised prompting ·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160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source material and tool policy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safe prompt pack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PII leakage count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212080"/>
            <a:ext cx="11201400" cy="841248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41324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82840"/>
                </a:solidFill>
                <a:latin typeface="Aptos"/>
              </a:defRPr>
            </a:pPr>
            <a:r>
              <a:t>Evidence record: story_id · scene_id · artifact_version · source_ids · owner · approval_status</a:t>
            </a:r>
          </a:p>
        </p:txBody>
      </p:sp>
    </p:spTree>
  </p:cSld>
  <p:clrMapOvr>
    <a:masterClrMapping/>
  </p:clrMapOvr>
  <p:transition spd="fast">
    <p:fade/>
  </p:transition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Safety and harm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161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story content and audience 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screen self-harm, violence, sexual content, defamation and vulnerable groups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harm review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escalate high-severity or uncertain cases</a:t>
            </a:r>
          </a:p>
        </p:txBody>
      </p:sp>
    </p:spTree>
  </p:cSld>
  <p:clrMapOvr>
    <a:masterClrMapping/>
  </p:clrMapOvr>
  <p:transition spd="fast">
    <p:fade/>
  </p:transition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Safety and harm review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162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01  SCENE 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HL-S01 · version 02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9704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02  STORY 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9704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story content and audience context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03  CREATIVE MOVE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screen self-harm, violence, sexual content, defamation and vulnerable groups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04  ARTIFACT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harm review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88536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9704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05  HUMAN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9704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severity-weighted findings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10144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1312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06  ACCEPT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escalate high-severity or uncertain cases</a:t>
            </a:r>
          </a:p>
        </p:txBody>
      </p:sp>
    </p:spTree>
  </p:cSld>
  <p:clrMapOvr>
    <a:masterClrMapping/>
  </p:clrMapOvr>
  <p:transition spd="fast">
    <p:fade/>
  </p:transition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Safety and harm review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163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01  OBSERVE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creative framing masks harm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9704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02  MEASURE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9704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severity-weighted findings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03  LOCATE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scene, line, frame or asset ID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04  CORRECT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screen self-harm, violence, sexual content, defamation and vulnerable groups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88536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9704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05  RETEST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9704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same criterion and evidence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10144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1312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06  DISPOSITION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PASS · REVISE · BLOCK</a:t>
            </a:r>
          </a:p>
        </p:txBody>
      </p:sp>
    </p:spTree>
  </p:cSld>
  <p:clrMapOvr>
    <a:masterClrMapping/>
  </p:clrMapOvr>
  <p:transition spd="fast">
    <p:fade/>
  </p:transition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Safety and harm review ·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164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331720"/>
            <a:ext cx="10561320" cy="54864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7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story and scene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4441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4441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4149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95777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story content and audience context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04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04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2754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18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harm review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1651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1651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359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787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severity-weighted findings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025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025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9964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OWNER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539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human approval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5212080"/>
            <a:ext cx="11201400" cy="841248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41324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82840"/>
                </a:solidFill>
                <a:latin typeface="Aptos"/>
              </a:defRPr>
            </a:pPr>
            <a:r>
              <a:t>Evidence record: story_id · scene_id · artifact_version · source_ids · owner · approval_status</a:t>
            </a:r>
          </a:p>
        </p:txBody>
      </p:sp>
    </p:spTree>
  </p:cSld>
  <p:clrMapOvr>
    <a:masterClrMapping/>
  </p:clrMapOvr>
  <p:transition spd="fast">
    <p:fade/>
  </p:transition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Human red-team session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165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near-final assets and failure hypotheses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assign reviewers to challenge evidence, bias, continuity and deception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red-team log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every high-risk issue has owner and disposition</a:t>
            </a:r>
          </a:p>
        </p:txBody>
      </p:sp>
    </p:spTree>
  </p:cSld>
  <p:clrMapOvr>
    <a:masterClrMapping/>
  </p:clrMapOvr>
  <p:transition spd="fast">
    <p:fade/>
  </p:transition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Human red-team session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166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46504"/>
            <a:ext cx="519379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46504"/>
            <a:ext cx="91440" cy="42976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11095"/>
            <a:ext cx="473659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HARBOUR LIGHTS · STORY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59152"/>
            <a:ext cx="473659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0">
                <a:solidFill>
                  <a:srgbClr val="1D2A37"/>
                </a:solidFill>
                <a:latin typeface="Aptos"/>
              </a:defRPr>
            </a:pPr>
            <a:r>
              <a:t>Format: 90-second human-interest short</a:t>
            </a:r>
            <a:br/>
            <a:r>
              <a:t>Audience: Singapore adult learners</a:t>
            </a:r>
            <a:br/>
            <a:r>
              <a:t>Input: near-final assets and failure hypotheses</a:t>
            </a:r>
            <a:br/>
            <a:r>
              <a:t>Creative operation: assign reviewers to challenge evidence, bias, continuity and deception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0176" y="1746504"/>
            <a:ext cx="569671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0176" y="1746504"/>
            <a:ext cx="91440" cy="42976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08776" y="1911095"/>
            <a:ext cx="523951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STRUCTURED ARTIFACT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2359152"/>
            <a:ext cx="523951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0">
                <a:solidFill>
                  <a:srgbClr val="1D2A37"/>
                </a:solidFill>
                <a:latin typeface="Aptos"/>
              </a:defRPr>
            </a:pPr>
            <a:r>
              <a:t>artifact_type: red-team log</a:t>
            </a:r>
            <a:br/>
            <a:r>
              <a:t>story_id: HL-01</a:t>
            </a:r>
            <a:br/>
            <a:r>
              <a:t>review_owner: human creator</a:t>
            </a:r>
            <a:br/>
            <a:r>
              <a:t>accept_if: every high-risk issue has owner and disposition</a:t>
            </a:r>
          </a:p>
        </p:txBody>
      </p:sp>
    </p:spTree>
  </p:cSld>
  <p:clrMapOvr>
    <a:masterClrMapping/>
  </p:clrMapOvr>
  <p:transition spd="fast">
    <p:fade/>
  </p:transition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Human red-team session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167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83080"/>
            <a:ext cx="5230368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83080"/>
            <a:ext cx="91440" cy="416052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47672"/>
            <a:ext cx="477316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95728"/>
            <a:ext cx="4773168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group confirmation bias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07608" y="1783080"/>
            <a:ext cx="5669280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07608" y="1783080"/>
            <a:ext cx="91440" cy="41605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947672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REVIEW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2395728"/>
            <a:ext cx="5212080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Check closed finding rate.</a:t>
            </a:r>
            <a:br/>
            <a:r>
              <a:t>Record source, owner and outcome.</a:t>
            </a:r>
            <a:br/>
            <a:r>
              <a:t>Return to the producing agent when the contract fails.</a:t>
            </a:r>
          </a:p>
        </p:txBody>
      </p:sp>
    </p:spTree>
  </p:cSld>
  <p:clrMapOvr>
    <a:masterClrMapping/>
  </p:clrMapOvr>
  <p:transition spd="fast">
    <p:fade/>
  </p:transition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Human red-team session ·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168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near-final assets and failure hypotheses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red-team log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closed finding rate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212080"/>
            <a:ext cx="11201400" cy="841248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41324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82840"/>
                </a:solidFill>
                <a:latin typeface="Aptos"/>
              </a:defRPr>
            </a:pPr>
            <a:r>
              <a:t>Evidence record: story_id · scene_id · artifact_version · source_ids · owner · approval_status</a:t>
            </a:r>
          </a:p>
        </p:txBody>
      </p:sp>
    </p:spTree>
  </p:cSld>
  <p:clrMapOvr>
    <a:masterClrMapping/>
  </p:clrMapOvr>
  <p:transition spd="fast">
    <p:fade/>
  </p:transition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Responsible release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169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QA packet and named approver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record approve, revise or block with conditions and exceptions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release authorization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AI cannot self-approve external publication</a:t>
            </a:r>
          </a:p>
        </p:txBody>
      </p:sp>
    </p:spTree>
  </p:cSld>
  <p:clrMapOvr>
    <a:masterClrMapping/>
  </p:clrMapOvr>
  <p:transition spd="fast">
    <p:fade/>
  </p:transition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Responsible release decision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170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331720"/>
            <a:ext cx="10561320" cy="54864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7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BRIEF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QA packet and named approver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4441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4441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4149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95777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record approve, revise or block with conditions and exceptions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04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04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2754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DRAFT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18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release authorization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1651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1651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359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787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approval audit completeness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025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025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9964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DECIDE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539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AI cannot self-approve external publication</a:t>
            </a:r>
          </a:p>
        </p:txBody>
      </p:sp>
    </p:spTree>
  </p:cSld>
  <p:clrMapOvr>
    <a:masterClrMapping/>
  </p:clrMapOvr>
  <p:transition spd="fast">
    <p:fade/>
  </p:transition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Responsible release decision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171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01  OBSERVE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automatic release after generation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9704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02  MEASURE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9704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approval audit completeness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03  LOCATE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scene, line, frame or asset ID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04  CORRECT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record approve, revise or block with conditions and exceptions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88536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9704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05  RETEST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9704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same criterion and evidence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10144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1312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06  DISPOSITION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PASS · REVISE · BLOCK</a:t>
            </a:r>
          </a:p>
        </p:txBody>
      </p:sp>
    </p:spTree>
  </p:cSld>
  <p:clrMapOvr>
    <a:masterClrMapping/>
  </p:clrMapOvr>
  <p:transition spd="fast">
    <p:fade/>
  </p:transition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4 · MECHANISM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Responsible release decision · illustrative decision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172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" y="1755648"/>
          <a:ext cx="6583680" cy="427939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589520" y="1883664"/>
            <a:ext cx="4041648" cy="3986784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89520" y="1883664"/>
            <a:ext cx="91440" cy="3986784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2048256"/>
            <a:ext cx="358444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CLASSROOM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2496312"/>
            <a:ext cx="3584448" cy="32735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Illustrative scores only.</a:t>
            </a:r>
            <a:br/>
            <a:r>
              <a:t>Metric: approval audit completeness</a:t>
            </a:r>
            <a:br/>
            <a:r>
              <a:t>Compare against a pre-agreed release threshold; inspect evidence before approval.</a:t>
            </a:r>
          </a:p>
        </p:txBody>
      </p:sp>
    </p:spTree>
  </p:cSld>
  <p:clrMapOvr>
    <a:masterClrMapping/>
  </p:clrMapOvr>
  <p:transition spd="fast">
    <p:fade/>
  </p:transition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PRACTICE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Topic 4 · lab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173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LAB 07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Bias, culture and factual integrity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LAB 08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Authenticity, privacy and disclosure gate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</p:spTree>
  </p:cSld>
  <p:clrMapOvr>
    <a:masterClrMapping/>
  </p:clrMapOvr>
  <p:transition spd="fast">
    <p:push dir="r"/>
  </p:transition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LO5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12648"/>
            <a:ext cx="11109960" cy="10241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rPr sz="2300"/>
              <a:t>Topic 5: Copyright, provenance and release governance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66420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174</a:t>
            </a:r>
          </a:p>
        </p:txBody>
      </p:sp>
      <p:pic>
        <p:nvPicPr>
          <p:cNvPr id="9" name="Picture 8" descr="rights-review-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856231"/>
            <a:ext cx="6675120" cy="424281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98079" y="1856231"/>
            <a:ext cx="4187952" cy="4242816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2304288"/>
            <a:ext cx="3547872" cy="2651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1">
                <a:solidFill>
                  <a:srgbClr val="182840"/>
                </a:solidFill>
                <a:latin typeface="Aptos"/>
              </a:defRPr>
            </a:pPr>
            <a:r>
              <a:t>LO5: Identify copyright risks in generative AI production and apply corrective actions to avoid copyright infringement.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5404104"/>
            <a:ext cx="356616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008B8B"/>
                </a:solidFill>
                <a:latin typeface="Aptos"/>
              </a:defRPr>
            </a:pPr>
            <a:r>
              <a:t>10 mechanisms · 2 labs</a:t>
            </a:r>
          </a:p>
        </p:txBody>
      </p:sp>
    </p:spTree>
  </p:cSld>
  <p:clrMapOvr>
    <a:masterClrMapping/>
  </p:clrMapOvr>
  <p:transition spd="fast">
    <p:push dir="r"/>
  </p:transition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5 · MECHANISM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Copyright subject-matter screen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175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script, image, audio and source manifest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identify protected expression, public-domain material, facts and ideas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rights classification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rights attach to expression, not a vague topic</a:t>
            </a:r>
          </a:p>
        </p:txBody>
      </p:sp>
    </p:spTree>
  </p:cSld>
  <p:clrMapOvr>
    <a:masterClrMapping/>
  </p:clrMapOvr>
  <p:transition spd="fast">
    <p:fade/>
  </p:transition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5 · MECHANISM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Copyright subject-matter screen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176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331720"/>
            <a:ext cx="10561320" cy="54864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7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BRIEF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script, image, audio and source manifest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4441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4441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4149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95777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identify protected expression, public-domain material, facts and ideas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04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04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2754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DRAFT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18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rights classification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1651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1651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359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787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classified asset rate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025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025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9964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DECIDE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539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rights attach to expression, not a vague topic</a:t>
            </a:r>
          </a:p>
        </p:txBody>
      </p:sp>
    </p:spTree>
  </p:cSld>
  <p:clrMapOvr>
    <a:masterClrMapping/>
  </p:clrMapOvr>
  <p:transition spd="fast">
    <p:fade/>
  </p:transition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5 · MECHANISM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Copyright subject-matter screen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177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83080"/>
            <a:ext cx="5230368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83080"/>
            <a:ext cx="91440" cy="416052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47672"/>
            <a:ext cx="477316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95728"/>
            <a:ext cx="4773168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assuming online means free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07608" y="1783080"/>
            <a:ext cx="5669280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07608" y="1783080"/>
            <a:ext cx="91440" cy="41605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947672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REVIEW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2395728"/>
            <a:ext cx="5212080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Check classified asset rate.</a:t>
            </a:r>
            <a:br/>
            <a:r>
              <a:t>Record source, owner and outcome.</a:t>
            </a:r>
            <a:br/>
            <a:r>
              <a:t>Return to the producing agent when the contract fails.</a:t>
            </a:r>
          </a:p>
        </p:txBody>
      </p:sp>
    </p:spTree>
  </p:cSld>
  <p:clrMapOvr>
    <a:masterClrMapping/>
  </p:clrMapOvr>
  <p:transition spd="fast">
    <p:fade/>
  </p:transition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5 · MECHANISM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Copyright subject-matter screen ·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178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script, image, audio and source manifest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rights classification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classified asset rate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212080"/>
            <a:ext cx="11201400" cy="841248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41324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82840"/>
                </a:solidFill>
                <a:latin typeface="Aptos"/>
              </a:defRPr>
            </a:pPr>
            <a:r>
              <a:t>Evidence record: story_id · scene_id · artifact_version · source_ids · owner · approval_status</a:t>
            </a:r>
          </a:p>
        </p:txBody>
      </p:sp>
    </p:spTree>
  </p:cSld>
  <p:clrMapOvr>
    <a:masterClrMapping/>
  </p:clrMapOvr>
  <p:transition spd="fast">
    <p:fade/>
  </p:transition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5 · MECHANISM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Human authorship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179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creative decision log and final 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separate machine proposals from human selection, arrangement and revision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authorship dossier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claim only demonstrable human contribution</a:t>
            </a:r>
          </a:p>
        </p:txBody>
      </p:sp>
    </p:spTree>
  </p:cSld>
  <p:clrMapOvr>
    <a:masterClrMapping/>
  </p:clrMapOvr>
  <p:transition spd="fast">
    <p:fade/>
  </p:transition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5 · MECHANISM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Human authorship evidence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180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01  SCENE 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HL-S01 · version 02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9704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02  STORY 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9704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creative decision log and final work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03  CREATIVE MOVE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separate machine proposals from human selection, arrangement and revision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04  ARTIFACT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authorship dossier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88536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9704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05  HUMAN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9704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decision evidence density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10144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1312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06  ACCEPT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claim only demonstrable human contribution</a:t>
            </a:r>
          </a:p>
        </p:txBody>
      </p:sp>
    </p:spTree>
  </p:cSld>
  <p:clrMapOvr>
    <a:masterClrMapping/>
  </p:clrMapOvr>
  <p:transition spd="fast">
    <p:fade/>
  </p:transition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5 · MECHANISM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Human authorship evidence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181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01  OBSERVE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copyright claim over raw AI output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9704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02  MEASURE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9704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decision evidence density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03  LOCATE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scene, line, frame or asset ID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04  CORRECT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separate machine proposals from human selection, arrangement and revision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88536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9704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05  RETEST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9704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same criterion and evidence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10144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1312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06  DISPOSITION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PASS · REVISE · BLOCK</a:t>
            </a:r>
          </a:p>
        </p:txBody>
      </p:sp>
    </p:spTree>
  </p:cSld>
  <p:clrMapOvr>
    <a:masterClrMapping/>
  </p:clrMapOvr>
  <p:transition spd="fast">
    <p:fade/>
  </p:transition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5 · MECHANISM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Human authorship evidence · illustrative decision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182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" y="1755648"/>
          <a:ext cx="6583680" cy="427939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589520" y="1883664"/>
            <a:ext cx="4041648" cy="3986784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89520" y="1883664"/>
            <a:ext cx="91440" cy="3986784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2048256"/>
            <a:ext cx="358444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CLASSROOM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2496312"/>
            <a:ext cx="3584448" cy="32735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Illustrative scores only.</a:t>
            </a:r>
            <a:br/>
            <a:r>
              <a:t>Metric: decision evidence density</a:t>
            </a:r>
            <a:br/>
            <a:r>
              <a:t>Compare against a pre-agreed release threshold; inspect evidence before approval.</a:t>
            </a:r>
          </a:p>
        </p:txBody>
      </p:sp>
    </p:spTree>
  </p:cSld>
  <p:clrMapOvr>
    <a:masterClrMapping/>
  </p:clrMapOvr>
  <p:transition spd="fast">
    <p:fade/>
  </p:transition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5 · MECHANISM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Licence compatibility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183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asset licences and intended channels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compare permitted use, modification, attribution, territory and duration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licence matrix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block use outside licence scope</a:t>
            </a:r>
          </a:p>
        </p:txBody>
      </p:sp>
    </p:spTree>
  </p:cSld>
  <p:clrMapOvr>
    <a:masterClrMapping/>
  </p:clrMapOvr>
  <p:transition spd="fast">
    <p:fade/>
  </p:transition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5 · MECHANISM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Licence compatibility matrix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184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46504"/>
            <a:ext cx="519379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46504"/>
            <a:ext cx="91440" cy="42976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11095"/>
            <a:ext cx="473659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HARBOUR LIGHTS · STORY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59152"/>
            <a:ext cx="473659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0">
                <a:solidFill>
                  <a:srgbClr val="1D2A37"/>
                </a:solidFill>
                <a:latin typeface="Aptos"/>
              </a:defRPr>
            </a:pPr>
            <a:r>
              <a:t>Format: 90-second human-interest short</a:t>
            </a:r>
            <a:br/>
            <a:r>
              <a:t>Audience: Singapore adult learners</a:t>
            </a:r>
            <a:br/>
            <a:r>
              <a:t>Input: asset licences and intended channels</a:t>
            </a:r>
            <a:br/>
            <a:r>
              <a:t>Creative operation: compare permitted use, modification, attribution, territory and duration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0176" y="1746504"/>
            <a:ext cx="569671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0176" y="1746504"/>
            <a:ext cx="91440" cy="42976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08776" y="1911095"/>
            <a:ext cx="523951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STRUCTURED ARTIFACT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2359152"/>
            <a:ext cx="523951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0">
                <a:solidFill>
                  <a:srgbClr val="1D2A37"/>
                </a:solidFill>
                <a:latin typeface="Aptos"/>
              </a:defRPr>
            </a:pPr>
            <a:r>
              <a:t>artifact_type: licence matrix</a:t>
            </a:r>
            <a:br/>
            <a:r>
              <a:t>story_id: HL-01</a:t>
            </a:r>
            <a:br/>
            <a:r>
              <a:t>review_owner: human creator</a:t>
            </a:r>
            <a:br/>
            <a:r>
              <a:t>accept_if: block use outside licence scope</a:t>
            </a:r>
          </a:p>
        </p:txBody>
      </p:sp>
    </p:spTree>
  </p:cSld>
  <p:clrMapOvr>
    <a:masterClrMapping/>
  </p:clrMapOvr>
  <p:transition spd="fast">
    <p:fade/>
  </p:transition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5 · MECHANISM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Licence compatibility matrix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185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83080"/>
            <a:ext cx="5230368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83080"/>
            <a:ext cx="91440" cy="416052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47672"/>
            <a:ext cx="477316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95728"/>
            <a:ext cx="4773168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incompatible or expired licence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07608" y="1783080"/>
            <a:ext cx="5669280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07608" y="1783080"/>
            <a:ext cx="91440" cy="41605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947672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REVIEW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2395728"/>
            <a:ext cx="5212080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Check compatible asset share.</a:t>
            </a:r>
            <a:br/>
            <a:r>
              <a:t>Record source, owner and outcome.</a:t>
            </a:r>
            <a:br/>
            <a:r>
              <a:t>Return to the producing agent when the contract fails.</a:t>
            </a:r>
          </a:p>
        </p:txBody>
      </p:sp>
    </p:spTree>
  </p:cSld>
  <p:clrMapOvr>
    <a:masterClrMapping/>
  </p:clrMapOvr>
  <p:transition spd="fast">
    <p:fade/>
  </p:transition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5 · MECHANISM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Licence compatibility matrix ·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186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asset licences and intended channels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licence matrix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compatible asset share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212080"/>
            <a:ext cx="11201400" cy="841248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41324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82840"/>
                </a:solidFill>
                <a:latin typeface="Aptos"/>
              </a:defRPr>
            </a:pPr>
            <a:r>
              <a:t>Evidence record: story_id · scene_id · artifact_version · source_ids · owner · approval_status</a:t>
            </a:r>
          </a:p>
        </p:txBody>
      </p:sp>
    </p:spTree>
  </p:cSld>
  <p:clrMapOvr>
    <a:masterClrMapping/>
  </p:clrMapOvr>
  <p:transition spd="fast">
    <p:fade/>
  </p:transition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5 · MECHANISM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Similarity and plagiarism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187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draft and reference corpus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inspect distinctive phrases, plot sequences, characters and visual composition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similarity report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rewrite or replace material with substantial expressive overlap</a:t>
            </a:r>
          </a:p>
        </p:txBody>
      </p:sp>
    </p:spTree>
  </p:cSld>
  <p:clrMapOvr>
    <a:masterClrMapping/>
  </p:clrMapOvr>
  <p:transition spd="fast">
    <p:fade/>
  </p:transition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5 · MECHANISM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Similarity and plagiarism review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188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331720"/>
            <a:ext cx="10561320" cy="54864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7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BRIEF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draft and reference corpus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4441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4441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4149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95777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inspect distinctive phrases, plot sequences, characters and visual composition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04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04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2754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DRAFT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18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similarity report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1651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1651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359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787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resolved match count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025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025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9964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DECIDE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539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rewrite or replace material with substantial expressive overlap</a:t>
            </a:r>
          </a:p>
        </p:txBody>
      </p:sp>
    </p:spTree>
  </p:cSld>
  <p:clrMapOvr>
    <a:masterClrMapping/>
  </p:clrMapOvr>
  <p:transition spd="fast">
    <p:fade/>
  </p:transition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5 · MECHANISM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Similarity and plagiarism review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189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01  OBSERVE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surface paraphrase of source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9704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02  MEASURE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9704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resolved match count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03  LOCATE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scene, line, frame or asset ID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04  CORRECT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inspect distinctive phrases, plot sequences, characters and visual composition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88536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9704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05  RETEST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9704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same criterion and evidence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10144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1312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06  DISPOSITION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PASS · REVISE · BLOCK</a:t>
            </a:r>
          </a:p>
        </p:txBody>
      </p:sp>
    </p:spTree>
  </p:cSld>
  <p:clrMapOvr>
    <a:masterClrMapping/>
  </p:clrMapOvr>
  <p:transition spd="fast">
    <p:fade/>
  </p:transition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5 · MECHANISM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Similarity and plagiarism review ·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190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331720"/>
            <a:ext cx="10561320" cy="54864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7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story and scene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4441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4441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4149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95777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draft and reference corpus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04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04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2754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18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similarity report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1651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1651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359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787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resolved match count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025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025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9964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OWNER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539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human approval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5212080"/>
            <a:ext cx="11201400" cy="841248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41324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82840"/>
                </a:solidFill>
                <a:latin typeface="Aptos"/>
              </a:defRPr>
            </a:pPr>
            <a:r>
              <a:t>Evidence record: story_id · scene_id · artifact_version · source_ids · owner · approval_status</a:t>
            </a:r>
          </a:p>
        </p:txBody>
      </p:sp>
    </p:spTree>
  </p:cSld>
  <p:clrMapOvr>
    <a:masterClrMapping/>
  </p:clrMapOvr>
  <p:transition spd="fast">
    <p:fade/>
  </p:transition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5 · MECHANISM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Style imitation risk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191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creator request and living-artist references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translate named style into generic visual attributes and original references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style-safe brief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avoid prompts seeking close imitation of a living creator</a:t>
            </a:r>
          </a:p>
        </p:txBody>
      </p:sp>
    </p:spTree>
  </p:cSld>
  <p:clrMapOvr>
    <a:masterClrMapping/>
  </p:clrMapOvr>
  <p:transition spd="fast">
    <p:fade/>
  </p:transition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5 · MECHANISM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Style imitation risk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192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01  SCENE 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HL-S01 · version 02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9704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02  STORY 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9704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creator request and living-artist references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03  CREATIVE MOVE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translate named style into generic visual attributes and original references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04  ARTIFACT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style-safe brief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88536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9704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05  HUMAN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9704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named-creator prompt count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10144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1312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06  ACCEPT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avoid prompts seeking close imitation of a living creator</a:t>
            </a:r>
          </a:p>
        </p:txBody>
      </p:sp>
    </p:spTree>
  </p:cSld>
  <p:clrMapOvr>
    <a:masterClrMapping/>
  </p:clrMapOvr>
  <p:transition spd="fast">
    <p:fade/>
  </p:transition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5 · MECHANISM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Style imitation risk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193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83080"/>
            <a:ext cx="5230368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83080"/>
            <a:ext cx="91440" cy="416052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47672"/>
            <a:ext cx="477316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95728"/>
            <a:ext cx="4773168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signature-style mimicry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07608" y="1783080"/>
            <a:ext cx="5669280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07608" y="1783080"/>
            <a:ext cx="91440" cy="41605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947672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REVIEW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2395728"/>
            <a:ext cx="5212080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Check named-creator prompt count.</a:t>
            </a:r>
            <a:br/>
            <a:r>
              <a:t>Record source, owner and outcome.</a:t>
            </a:r>
            <a:br/>
            <a:r>
              <a:t>Return to the producing agent when the contract fails.</a:t>
            </a:r>
          </a:p>
        </p:txBody>
      </p:sp>
    </p:spTree>
  </p:cSld>
  <p:clrMapOvr>
    <a:masterClrMapping/>
  </p:clrMapOvr>
  <p:transition spd="fast">
    <p:fade/>
  </p:transition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5 · MECHANISM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Style imitation risk ·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194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creator request and living-artist references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style-safe brief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named-creator prompt count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212080"/>
            <a:ext cx="11201400" cy="841248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41324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82840"/>
                </a:solidFill>
                <a:latin typeface="Aptos"/>
              </a:defRPr>
            </a:pPr>
            <a:r>
              <a:t>Evidence record: story_id · scene_id · artifact_version · source_ids · owner · approval_status</a:t>
            </a:r>
          </a:p>
        </p:txBody>
      </p:sp>
    </p:spTree>
  </p:cSld>
  <p:clrMapOvr>
    <a:masterClrMapping/>
  </p:clrMapOvr>
  <p:transition spd="fast">
    <p:fade/>
  </p:transition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5 · MECHANISM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Music and voice rights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195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audio assets, performers and generation settings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record composition, recording, voice consent and synthetic-use permissions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audio rights ledger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each audio layer needs a valid rights basis</a:t>
            </a:r>
          </a:p>
        </p:txBody>
      </p:sp>
    </p:spTree>
  </p:cSld>
  <p:clrMapOvr>
    <a:masterClrMapping/>
  </p:clrMapOvr>
  <p:transition spd="fast">
    <p:fade/>
  </p:transition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5 · MECHANISM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Music and voice rights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196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46504"/>
            <a:ext cx="519379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46504"/>
            <a:ext cx="91440" cy="42976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11095"/>
            <a:ext cx="473659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HARBOUR LIGHTS · STORY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59152"/>
            <a:ext cx="473659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0">
                <a:solidFill>
                  <a:srgbClr val="1D2A37"/>
                </a:solidFill>
                <a:latin typeface="Aptos"/>
              </a:defRPr>
            </a:pPr>
            <a:r>
              <a:t>Format: 90-second human-interest short</a:t>
            </a:r>
            <a:br/>
            <a:r>
              <a:t>Audience: Singapore adult learners</a:t>
            </a:r>
            <a:br/>
            <a:r>
              <a:t>Input: audio assets, performers and generation settings</a:t>
            </a:r>
            <a:br/>
            <a:r>
              <a:t>Creative operation: record composition, recording, voice consent and synthetic-use permissions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0176" y="1746504"/>
            <a:ext cx="569671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0176" y="1746504"/>
            <a:ext cx="91440" cy="42976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08776" y="1911095"/>
            <a:ext cx="523951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STRUCTURED ARTIFACT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2359152"/>
            <a:ext cx="523951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0">
                <a:solidFill>
                  <a:srgbClr val="1D2A37"/>
                </a:solidFill>
                <a:latin typeface="Aptos"/>
              </a:defRPr>
            </a:pPr>
            <a:r>
              <a:t>artifact_type: audio rights ledger</a:t>
            </a:r>
            <a:br/>
            <a:r>
              <a:t>story_id: HL-01</a:t>
            </a:r>
            <a:br/>
            <a:r>
              <a:t>review_owner: human creator</a:t>
            </a:r>
            <a:br/>
            <a:r>
              <a:t>accept_if: each audio layer needs a valid rights basis</a:t>
            </a:r>
          </a:p>
        </p:txBody>
      </p:sp>
    </p:spTree>
  </p:cSld>
  <p:clrMapOvr>
    <a:masterClrMapping/>
  </p:clrMapOvr>
  <p:transition spd="fast">
    <p:fade/>
  </p:transition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5 · MECHANISM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Music and voice rights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197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01  OBSERVE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voice clone without consent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9704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02  MEASURE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9704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cleared audio share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03  LOCATE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scene, line, frame or asset ID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04  CORRECT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record composition, recording, voice consent and synthetic-use permissions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88536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9704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05  RETEST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9704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same criterion and evidence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10144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1312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06  DISPOSITION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PASS · REVISE · BLOCK</a:t>
            </a:r>
          </a:p>
        </p:txBody>
      </p:sp>
    </p:spTree>
  </p:cSld>
  <p:clrMapOvr>
    <a:masterClrMapping/>
  </p:clrMapOvr>
  <p:transition spd="fast">
    <p:fade/>
  </p:transition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5 · MECHANISM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Music and voice rights · illustrative decision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198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" y="1755648"/>
          <a:ext cx="6583680" cy="427939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589520" y="1883664"/>
            <a:ext cx="4041648" cy="3986784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89520" y="1883664"/>
            <a:ext cx="91440" cy="3986784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2048256"/>
            <a:ext cx="358444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CLASSROOM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2496312"/>
            <a:ext cx="3584448" cy="32735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Illustrative scores only.</a:t>
            </a:r>
            <a:br/>
            <a:r>
              <a:t>Metric: cleared audio share</a:t>
            </a:r>
            <a:br/>
            <a:r>
              <a:t>Compare against a pre-agreed release threshold; inspect evidence before approval.</a:t>
            </a:r>
          </a:p>
        </p:txBody>
      </p:sp>
    </p:spTree>
  </p:cSld>
  <p:clrMapOvr>
    <a:masterClrMapping/>
  </p:clrMapOvr>
  <p:transition spd="fast">
    <p:fade/>
  </p:transition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5 · MECHANISM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Provenance manifest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199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all final media assets and generation records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store source, tool, prompt hash, editor, version, licence and disclosure status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provenance package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no asset without owner and origin enters export</a:t>
            </a:r>
          </a:p>
        </p:txBody>
      </p:sp>
    </p:spTree>
  </p:cSld>
  <p:clrMapOvr>
    <a:masterClrMapping/>
  </p:clrMapOvr>
  <p:transition spd="fast">
    <p:fade/>
  </p:transition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5 · MECHANISM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Provenance manifest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200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331720"/>
            <a:ext cx="10561320" cy="54864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7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BRIEF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all final media assets and generation records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4441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4441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4149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95777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store source, tool, prompt hash, editor, version, licence and disclosure status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04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04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2754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DRAFT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18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provenance package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1651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1651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359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787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manifest completeness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025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025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9964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DECIDE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539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no asset without owner and origin enters export</a:t>
            </a:r>
          </a:p>
        </p:txBody>
      </p:sp>
    </p:spTree>
  </p:cSld>
  <p:clrMapOvr>
    <a:masterClrMapping/>
  </p:clrMapOvr>
  <p:transition spd="fast">
    <p:fade/>
  </p:transition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5 · MECHANISM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Provenance manifest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201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83080"/>
            <a:ext cx="5230368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83080"/>
            <a:ext cx="91440" cy="416052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47672"/>
            <a:ext cx="477316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95728"/>
            <a:ext cx="4773168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lost source trail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07608" y="1783080"/>
            <a:ext cx="5669280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07608" y="1783080"/>
            <a:ext cx="91440" cy="41605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947672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REVIEW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2395728"/>
            <a:ext cx="5212080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Check manifest completeness.</a:t>
            </a:r>
            <a:br/>
            <a:r>
              <a:t>Record source, owner and outcome.</a:t>
            </a:r>
            <a:br/>
            <a:r>
              <a:t>Return to the producing agent when the contract fails.</a:t>
            </a:r>
          </a:p>
        </p:txBody>
      </p:sp>
    </p:spTree>
  </p:cSld>
  <p:clrMapOvr>
    <a:masterClrMapping/>
  </p:clrMapOvr>
  <p:transition spd="fast">
    <p:fade/>
  </p:transition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5 · MECHANISM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Provenance manifest ·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202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all final media assets and generation records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provenance package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manifest completeness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212080"/>
            <a:ext cx="11201400" cy="841248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41324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82840"/>
                </a:solidFill>
                <a:latin typeface="Aptos"/>
              </a:defRPr>
            </a:pPr>
            <a:r>
              <a:t>Evidence record: story_id · scene_id · artifact_version · source_ids · owner · approval_status</a:t>
            </a:r>
          </a:p>
        </p:txBody>
      </p:sp>
    </p:spTree>
  </p:cSld>
  <p:clrMapOvr>
    <a:masterClrMapping/>
  </p:clrMapOvr>
  <p:transition spd="fast">
    <p:fade/>
  </p:transition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5 · MECHANISM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Correction and takedown route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203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published asset and rights contacts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define complaint intake, evidence hold, decision owner and replacement path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remediation plan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pause distribution on credible high-risk complaint</a:t>
            </a:r>
          </a:p>
        </p:txBody>
      </p:sp>
    </p:spTree>
  </p:cSld>
  <p:clrMapOvr>
    <a:masterClrMapping/>
  </p:clrMapOvr>
  <p:transition spd="fast">
    <p:fade/>
  </p:transition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5 · MECHANISM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Correction and takedown route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204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01  SCENE 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HL-S01 · version 02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9704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02  STORY 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9704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published asset and rights contacts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03  CREATIVE MOVE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define complaint intake, evidence hold, decision owner and replacement path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04  ARTIFACT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remediation plan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88536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9704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05  HUMAN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9704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response time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10144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1312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06  ACCEPT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pause distribution on credible high-risk complaint</a:t>
            </a:r>
          </a:p>
        </p:txBody>
      </p:sp>
    </p:spTree>
  </p:cSld>
  <p:clrMapOvr>
    <a:masterClrMapping/>
  </p:clrMapOvr>
  <p:transition spd="fast">
    <p:fade/>
  </p:transition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5 · MECHANISM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Correction and takedown route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205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01  OBSERVE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no accountable response path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9704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02  MEASURE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9704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response time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03  LOCATE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scene, line, frame or asset ID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04  CORRECT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define complaint intake, evidence hold, decision owner and replacement path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88536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9704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05  RETEST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9704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same criterion and evidence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10144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1312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06  DISPOSITION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PASS · REVISE · BLOCK</a:t>
            </a:r>
          </a:p>
        </p:txBody>
      </p:sp>
    </p:spTree>
  </p:cSld>
  <p:clrMapOvr>
    <a:masterClrMapping/>
  </p:clrMapOvr>
  <p:transition spd="fast">
    <p:fade/>
  </p:transition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5 · MECHANISM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Correction and takedown route ·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206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331720"/>
            <a:ext cx="10561320" cy="54864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7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story and scene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4441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4441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4149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95777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published asset and rights contacts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04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04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2754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18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remediation plan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1651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1651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359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787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response time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025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025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9964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OWNER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539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human approval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5212080"/>
            <a:ext cx="11201400" cy="841248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41324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82840"/>
                </a:solidFill>
                <a:latin typeface="Aptos"/>
              </a:defRPr>
            </a:pPr>
            <a:r>
              <a:t>Evidence record: story_id · scene_id · artifact_version · source_ids · owner · approval_status</a:t>
            </a:r>
          </a:p>
        </p:txBody>
      </p:sp>
    </p:spTree>
  </p:cSld>
  <p:clrMapOvr>
    <a:masterClrMapping/>
  </p:clrMapOvr>
  <p:transition spd="fast">
    <p:fade/>
  </p:transition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5 · MECHANISM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Platform and client terms check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207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current tool terms and production brief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compare commercial use, retention, training and indemnity terms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terms review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use only tools approved for the content class</a:t>
            </a:r>
          </a:p>
        </p:txBody>
      </p:sp>
    </p:spTree>
  </p:cSld>
  <p:clrMapOvr>
    <a:masterClrMapping/>
  </p:clrMapOvr>
  <p:transition spd="fast">
    <p:fade/>
  </p:transition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5 · MECHANISM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Platform and client terms check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208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46504"/>
            <a:ext cx="519379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46504"/>
            <a:ext cx="91440" cy="42976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11095"/>
            <a:ext cx="473659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HARBOUR LIGHTS · STORY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59152"/>
            <a:ext cx="473659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0">
                <a:solidFill>
                  <a:srgbClr val="1D2A37"/>
                </a:solidFill>
                <a:latin typeface="Aptos"/>
              </a:defRPr>
            </a:pPr>
            <a:r>
              <a:t>Format: 90-second human-interest short</a:t>
            </a:r>
            <a:br/>
            <a:r>
              <a:t>Audience: Singapore adult learners</a:t>
            </a:r>
            <a:br/>
            <a:r>
              <a:t>Input: current tool terms and production brief</a:t>
            </a:r>
            <a:br/>
            <a:r>
              <a:t>Creative operation: compare commercial use, retention, training and indemnity terms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0176" y="1746504"/>
            <a:ext cx="5696712" cy="42976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0176" y="1746504"/>
            <a:ext cx="91440" cy="42976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08776" y="1911095"/>
            <a:ext cx="523951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STRUCTURED ARTIFACT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2359152"/>
            <a:ext cx="5239512" cy="3584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0">
                <a:solidFill>
                  <a:srgbClr val="1D2A37"/>
                </a:solidFill>
                <a:latin typeface="Aptos"/>
              </a:defRPr>
            </a:pPr>
            <a:r>
              <a:t>artifact_type: terms review</a:t>
            </a:r>
            <a:br/>
            <a:r>
              <a:t>story_id: HL-01</a:t>
            </a:r>
            <a:br/>
            <a:r>
              <a:t>review_owner: human creator</a:t>
            </a:r>
            <a:br/>
            <a:r>
              <a:t>accept_if: use only tools approved for the content class</a:t>
            </a:r>
          </a:p>
        </p:txBody>
      </p:sp>
    </p:spTree>
  </p:cSld>
  <p:clrMapOvr>
    <a:masterClrMapping/>
  </p:clrMapOvr>
  <p:transition spd="fast">
    <p:fade/>
  </p:transition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5 · MECHANISM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Platform and client terms check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209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83080"/>
            <a:ext cx="5230368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783080"/>
            <a:ext cx="91440" cy="416052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47672"/>
            <a:ext cx="477316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95728"/>
            <a:ext cx="4773168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rights assumption based on marketing claim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07608" y="1783080"/>
            <a:ext cx="5669280" cy="416052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07608" y="1783080"/>
            <a:ext cx="91440" cy="41605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947672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REVIEW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2395728"/>
            <a:ext cx="5212080" cy="34472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Check terms attestation.</a:t>
            </a:r>
            <a:br/>
            <a:r>
              <a:t>Record source, owner and outcome.</a:t>
            </a:r>
            <a:br/>
            <a:r>
              <a:t>Return to the producing agent when the contract fails.</a:t>
            </a:r>
          </a:p>
        </p:txBody>
      </p:sp>
    </p:spTree>
  </p:cSld>
  <p:clrMapOvr>
    <a:masterClrMapping/>
  </p:clrMapOvr>
  <p:transition spd="fast">
    <p:fade/>
  </p:transition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5 · MECHANISM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Platform and client terms check ·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210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current tool terms and production brief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terms 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terms attestation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212080"/>
            <a:ext cx="11201400" cy="841248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41324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82840"/>
                </a:solidFill>
                <a:latin typeface="Aptos"/>
              </a:defRPr>
            </a:pPr>
            <a:r>
              <a:t>Evidence record: story_id · scene_id · artifact_version · source_ids · owner · approval_status</a:t>
            </a:r>
          </a:p>
        </p:txBody>
      </p:sp>
    </p:spTree>
  </p:cSld>
  <p:clrMapOvr>
    <a:masterClrMapping/>
  </p:clrMapOvr>
  <p:transition spd="fast">
    <p:fade/>
  </p:transition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5 · MECHANISM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Final release checklist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211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approved script, cut, rights and QA records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verify version, captions, disclosures, permissions and destination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release packet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175504"/>
            <a:ext cx="11201400" cy="841248"/>
          </a:xfrm>
          <a:prstGeom prst="round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4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rule: all mandatory gates must pass</a:t>
            </a:r>
          </a:p>
        </p:txBody>
      </p:sp>
    </p:spTree>
  </p:cSld>
  <p:clrMapOvr>
    <a:masterClrMapping/>
  </p:clrMapOvr>
  <p:transition spd="fast">
    <p:fade/>
  </p:transition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5 · MECHANISM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Final release checklist ·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212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331720"/>
            <a:ext cx="10561320" cy="54864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7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BRIEF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approved script, cut, rights and QA records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4441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4441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4149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95777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verify version, captions, disclosures, permissions and destination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04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04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2754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DRAFT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18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release packet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1651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1651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359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787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release-gate pass rate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02568" y="2103120"/>
            <a:ext cx="50292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02568" y="21762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99648" y="281635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82840"/>
                </a:solidFill>
                <a:latin typeface="Aptos"/>
              </a:defRPr>
            </a:pPr>
            <a:r>
              <a:t>DECIDE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53928" y="3182111"/>
            <a:ext cx="1600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0">
                <a:solidFill>
                  <a:srgbClr val="1D2A37"/>
                </a:solidFill>
                <a:latin typeface="Aptos"/>
              </a:defRPr>
            </a:pPr>
            <a:r>
              <a:t>all mandatory gates must pass</a:t>
            </a:r>
          </a:p>
        </p:txBody>
      </p:sp>
    </p:spTree>
  </p:cSld>
  <p:clrMapOvr>
    <a:masterClrMapping/>
  </p:clrMapOvr>
  <p:transition spd="fast">
    <p:fade/>
  </p:transition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5 · MECHANISM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Final release checklist · failure and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213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01  OBSERVE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correct file sent to wrong audience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9704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02  MEASURE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9704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release-gate pass rate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719072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1883664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03  LOCATE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322576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scene, line, frame or asset ID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04  CORRECT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verify version, captions, disclosures, permissions and destination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88536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9704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05  RETEST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9704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same criterion and evidence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10144" y="3749039"/>
            <a:ext cx="3401568" cy="1719072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1312" y="3913631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06  DISPOSITION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4352544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D2A37"/>
                </a:solidFill>
                <a:latin typeface="Aptos"/>
              </a:defRPr>
            </a:pPr>
            <a:r>
              <a:t>PASS · REVISE · BLOCK</a:t>
            </a:r>
          </a:p>
        </p:txBody>
      </p:sp>
    </p:spTree>
  </p:cSld>
  <p:clrMapOvr>
    <a:masterClrMapping/>
  </p:clrMapOvr>
  <p:transition spd="fast">
    <p:fade/>
  </p:transition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TOPIC 5 · MECHANISM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Final release checklist · illustrative decision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214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" y="1755648"/>
          <a:ext cx="6583680" cy="427939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589520" y="1883664"/>
            <a:ext cx="4041648" cy="3986784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89520" y="1883664"/>
            <a:ext cx="91440" cy="3986784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2048256"/>
            <a:ext cx="358444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CLASSROOM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2496312"/>
            <a:ext cx="3584448" cy="32735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Illustrative scores only.</a:t>
            </a:r>
            <a:br/>
            <a:r>
              <a:t>Metric: release-gate pass rate</a:t>
            </a:r>
            <a:br/>
            <a:r>
              <a:t>Compare against a pre-agreed release threshold; inspect evidence before approval.</a:t>
            </a:r>
          </a:p>
        </p:txBody>
      </p:sp>
    </p:spTree>
  </p:cSld>
  <p:clrMapOvr>
    <a:masterClrMapping/>
  </p:clrMapOvr>
  <p:transition spd="fast">
    <p:fade/>
  </p:transition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PRACTICE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Topic 5 · lab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215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LAB 09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Rights, licences and similarity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LAB 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Provenance and final release packet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</p:spTree>
  </p:cSld>
  <p:clrMapOvr>
    <a:masterClrMapping/>
  </p:clrMapOvr>
  <p:transition spd="fast">
    <p:push dir="r"/>
  </p:transition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COURSE FEEDBACK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Tell us how the course went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216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057400"/>
            <a:ext cx="91440" cy="2697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008B8B"/>
                </a:solidFill>
                <a:latin typeface="Aptos"/>
              </a:defRPr>
            </a:pPr>
            <a:r>
              <a:t>FEEDBACK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Complete the course feedback 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5448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2057400"/>
            <a:ext cx="91440" cy="2697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182840"/>
                </a:solidFill>
                <a:latin typeface="Aptos"/>
              </a:defRPr>
            </a:pPr>
            <a:r>
              <a:t>CERTIFICATE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Your certificate of completion will be emailed to you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3081528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E86C54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0352" y="2057400"/>
            <a:ext cx="3526536" cy="2697480"/>
          </a:xfrm>
          <a:prstGeom prst="round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2" y="2057400"/>
            <a:ext cx="91440" cy="2697480"/>
          </a:xfrm>
          <a:prstGeom prst="rect">
            <a:avLst/>
          </a:prstGeom>
          <a:solidFill>
            <a:srgbClr val="E86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8952" y="2221992"/>
            <a:ext cx="306933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86C54"/>
                </a:solidFill>
                <a:latin typeface="Aptos"/>
              </a:defRPr>
            </a:pPr>
            <a:r>
              <a:t>STAY IN TOUCH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952" y="2670048"/>
            <a:ext cx="3069336" cy="1984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1D2A37"/>
                </a:solidFill>
                <a:latin typeface="Aptos"/>
              </a:defRPr>
            </a:pPr>
            <a:r>
              <a:t>enquiry@tertiaryinfotech.com</a:t>
            </a:r>
          </a:p>
        </p:txBody>
      </p:sp>
    </p:spTree>
  </p:cSld>
  <p:clrMapOvr>
    <a:masterClrMapping/>
  </p:clrMapOvr>
  <p:transition spd="fast">
    <p:fade/>
  </p:transition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COURSE CLOSE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40080"/>
            <a:ext cx="111556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182840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11201400" cy="22860"/>
          </a:xfrm>
          <a:prstGeom prst="rect">
            <a:avLst/>
          </a:prstGeom>
          <a:solidFill>
            <a:srgbClr val="F1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536570"/>
                </a:solidFill>
                <a:latin typeface="Aptos"/>
              </a:defRPr>
            </a:pPr>
            <a:r>
              <a:t>C364 · Generative AI for Script Development and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008B8B"/>
                </a:solidFill>
                <a:latin typeface="Aptos"/>
              </a:defRPr>
            </a:pPr>
            <a:r>
              <a:t>217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04288"/>
            <a:ext cx="10881360" cy="11430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400" b="1">
                <a:solidFill>
                  <a:srgbClr val="182840"/>
                </a:solidFill>
                <a:latin typeface="Aptos"/>
              </a:defRPr>
            </a:pPr>
            <a:r>
              <a:t>Carry your human creative intent from premise to final frame.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86200"/>
            <a:ext cx="1088136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100" b="0">
                <a:solidFill>
                  <a:srgbClr val="008B8B"/>
                </a:solidFill>
                <a:latin typeface="Aptos"/>
              </a:defRPr>
            </a:pPr>
            <a:r>
              <a:t>enquiry@tertiaryinfotech.com  ·  +65 6100 0613</a:t>
            </a:r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